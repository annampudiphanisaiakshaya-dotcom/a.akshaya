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72" r:id="rId7"/>
    <p:sldId id="263" r:id="rId8"/>
    <p:sldId id="264" r:id="rId9"/>
    <p:sldId id="281" r:id="rId10"/>
    <p:sldId id="289" r:id="rId11"/>
    <p:sldId id="290" r:id="rId12"/>
    <p:sldId id="291" r:id="rId13"/>
    <p:sldId id="283" r:id="rId14"/>
    <p:sldId id="284" r:id="rId15"/>
    <p:sldId id="286" r:id="rId16"/>
    <p:sldId id="287" r:id="rId17"/>
    <p:sldId id="288" r:id="rId18"/>
    <p:sldId id="293" r:id="rId19"/>
    <p:sldId id="292" r:id="rId20"/>
    <p:sldId id="278" r:id="rId21"/>
    <p:sldId id="28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 Akshaya" userId="4da2e17be469706f" providerId="LiveId" clId="{03E15331-A318-48E2-8DFA-01B3CFB66DB8}"/>
    <pc:docChg chg="modSld">
      <pc:chgData name="A. Akshaya" userId="4da2e17be469706f" providerId="LiveId" clId="{03E15331-A318-48E2-8DFA-01B3CFB66DB8}" dt="2026-10-17T06:40:01.368" v="10" actId="14100"/>
      <pc:docMkLst>
        <pc:docMk/>
      </pc:docMkLst>
      <pc:sldChg chg="modSp mod">
        <pc:chgData name="A. Akshaya" userId="4da2e17be469706f" providerId="LiveId" clId="{03E15331-A318-48E2-8DFA-01B3CFB66DB8}" dt="2026-10-17T06:40:01.368" v="10" actId="14100"/>
        <pc:sldMkLst>
          <pc:docMk/>
          <pc:sldMk cId="4093330097" sldId="278"/>
        </pc:sldMkLst>
        <pc:spChg chg="mod">
          <ac:chgData name="A. Akshaya" userId="4da2e17be469706f" providerId="LiveId" clId="{03E15331-A318-48E2-8DFA-01B3CFB66DB8}" dt="2026-10-17T06:39:38.659" v="5" actId="1076"/>
          <ac:spMkLst>
            <pc:docMk/>
            <pc:sldMk cId="4093330097" sldId="278"/>
            <ac:spMk id="3" creationId="{D206637C-31D1-A0F3-B660-9C41FC094A01}"/>
          </ac:spMkLst>
        </pc:spChg>
        <pc:picChg chg="mod">
          <ac:chgData name="A. Akshaya" userId="4da2e17be469706f" providerId="LiveId" clId="{03E15331-A318-48E2-8DFA-01B3CFB66DB8}" dt="2026-10-17T06:40:01.368" v="10" actId="14100"/>
          <ac:picMkLst>
            <pc:docMk/>
            <pc:sldMk cId="4093330097" sldId="278"/>
            <ac:picMk id="6" creationId="{05234A1D-34EF-7A7F-3030-3C2470EE22AA}"/>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17DE-4CF3-858B-A45F-873A852FD9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0A926C-6E69-12AB-7697-CD81EB881D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48B1832-B1AA-B8F3-B7EF-014624D121AB}"/>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5" name="Footer Placeholder 4">
            <a:extLst>
              <a:ext uri="{FF2B5EF4-FFF2-40B4-BE49-F238E27FC236}">
                <a16:creationId xmlns:a16="http://schemas.microsoft.com/office/drawing/2014/main" id="{AC21FA99-5587-D9FD-68E8-AA8D1E766C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80A5A4-29E3-7988-DBEA-8D0705D8B795}"/>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31298654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267AE-62FC-7E52-E023-3F7C3C9BB6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4051AF-4C8D-9DE8-7E14-22F1A5C729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FE3E2EB-7231-3B9D-51B1-8761EB07A152}"/>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5" name="Footer Placeholder 4">
            <a:extLst>
              <a:ext uri="{FF2B5EF4-FFF2-40B4-BE49-F238E27FC236}">
                <a16:creationId xmlns:a16="http://schemas.microsoft.com/office/drawing/2014/main" id="{BD20EA45-8ED5-06E4-AEC8-7D01C8ED14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61BC03-0889-9612-B44A-1684B3454925}"/>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326433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7F09B8-4DEF-3D5E-0A2E-848D1CE6B7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ADC4BC-7475-A217-BE66-7EA23DFF8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53562E-463B-99A7-3985-9A0B0825F301}"/>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5" name="Footer Placeholder 4">
            <a:extLst>
              <a:ext uri="{FF2B5EF4-FFF2-40B4-BE49-F238E27FC236}">
                <a16:creationId xmlns:a16="http://schemas.microsoft.com/office/drawing/2014/main" id="{7DC1ED62-7407-E83A-3942-FC077D3714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C60BD-DDE4-BE15-F2C6-0068BE099068}"/>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2210114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975ED-C5E8-C495-1569-0B60BD13EE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EE89F5-F36C-D298-45D1-F2D4620F4F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9140AF-301F-C034-DD0E-C96A22E44F4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935FF85-F236-7E51-0EB9-72D4DC29A5B1}"/>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6" name="Footer Placeholder 5">
            <a:extLst>
              <a:ext uri="{FF2B5EF4-FFF2-40B4-BE49-F238E27FC236}">
                <a16:creationId xmlns:a16="http://schemas.microsoft.com/office/drawing/2014/main" id="{29D5165F-7E8A-137C-6663-30BA4D8FE34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62A2C2-7EF2-D93F-6C74-867D751C0F2D}"/>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3899689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5E8226-1CA1-E38D-E5DD-9DF7BF29EAF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DD615F6-8E04-9222-67C7-8119835A5E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8F2AA6-62DC-7317-A402-7D3B58BB38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EE12D4-0B86-16A4-E0CC-0BBA561D17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024D2D8-231A-8995-D00C-0377F5B07B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E9CFD9-1740-4EDF-A839-9ABC461D0D70}"/>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8" name="Footer Placeholder 7">
            <a:extLst>
              <a:ext uri="{FF2B5EF4-FFF2-40B4-BE49-F238E27FC236}">
                <a16:creationId xmlns:a16="http://schemas.microsoft.com/office/drawing/2014/main" id="{AB996BCF-E6BD-B328-2670-0B0E20494B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286A9DC-6552-A1F5-25FF-2FA0DC2F5019}"/>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4173315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27AB5-0AC9-61EB-0C48-782A0E712C4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A303AB2-FB1D-907C-A028-DFC392F13870}"/>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4" name="Footer Placeholder 3">
            <a:extLst>
              <a:ext uri="{FF2B5EF4-FFF2-40B4-BE49-F238E27FC236}">
                <a16:creationId xmlns:a16="http://schemas.microsoft.com/office/drawing/2014/main" id="{42360DE8-E03B-09FD-21BF-BEB844BAB8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F26C946-E2F9-0ED4-E8D9-C8C2B495EC4E}"/>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3611898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E04A95-B241-400D-1029-5DC6AEE9530A}"/>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3" name="Footer Placeholder 2">
            <a:extLst>
              <a:ext uri="{FF2B5EF4-FFF2-40B4-BE49-F238E27FC236}">
                <a16:creationId xmlns:a16="http://schemas.microsoft.com/office/drawing/2014/main" id="{7FC3A301-52DF-AA53-3CA8-1551B4D68E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4B9240-7E76-677A-2DB3-F892CF6B5F5B}"/>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2517613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03561-E0FD-BE24-FD55-0CEC378FB5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7BE82B9-0447-B17F-2CFA-70A1EBC2AA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5170911-FB7F-1099-BBD8-8CED427F88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97B9C7-E288-6039-F275-789B979B4200}"/>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6" name="Footer Placeholder 5">
            <a:extLst>
              <a:ext uri="{FF2B5EF4-FFF2-40B4-BE49-F238E27FC236}">
                <a16:creationId xmlns:a16="http://schemas.microsoft.com/office/drawing/2014/main" id="{D197D19C-5D00-D3E1-2AE4-75BD16522F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BB3A0-ABE0-227C-3EF9-FB73E80FEE63}"/>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1302259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44F56-EC7C-A893-90A5-4F2106DEBE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348E6A4-568A-00BE-1F77-110D339EB4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BEBF4A-393B-FFDB-0E67-8EEA4CF6EF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8F200B-6ECC-F203-9DD7-2CAA71E8CD5C}"/>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6" name="Footer Placeholder 5">
            <a:extLst>
              <a:ext uri="{FF2B5EF4-FFF2-40B4-BE49-F238E27FC236}">
                <a16:creationId xmlns:a16="http://schemas.microsoft.com/office/drawing/2014/main" id="{EDC27661-EEA2-5643-968F-A3A8B58984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1EC908-98F2-957A-AF96-3852BA85EE99}"/>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3441154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67CF6-4D7C-927A-92A9-E6323A1806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75A542-67A0-ACFE-2B13-2B08154045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A769AF-F717-4F71-2628-86CEC11119CD}"/>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5" name="Footer Placeholder 4">
            <a:extLst>
              <a:ext uri="{FF2B5EF4-FFF2-40B4-BE49-F238E27FC236}">
                <a16:creationId xmlns:a16="http://schemas.microsoft.com/office/drawing/2014/main" id="{B516968A-DC0D-EEC4-923B-3C0EC2A164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DB98F7-CCDD-D456-4EF8-11F43C7B5290}"/>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2771358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738B1E-97DC-DC94-DB45-7493EC6AA1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A04ACB-1563-26A2-10FE-CCDE70482C9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03350-40DF-CC2E-2663-8E0994E2CD8D}"/>
              </a:ext>
            </a:extLst>
          </p:cNvPr>
          <p:cNvSpPr>
            <a:spLocks noGrp="1"/>
          </p:cNvSpPr>
          <p:nvPr>
            <p:ph type="dt" sz="half" idx="10"/>
          </p:nvPr>
        </p:nvSpPr>
        <p:spPr/>
        <p:txBody>
          <a:bodyPr/>
          <a:lstStyle/>
          <a:p>
            <a:fld id="{E93B916A-BA49-4961-A99A-C41F61E06BD1}" type="datetimeFigureOut">
              <a:rPr lang="en-US" smtClean="0"/>
              <a:t>10/17/2026</a:t>
            </a:fld>
            <a:endParaRPr lang="en-US"/>
          </a:p>
        </p:txBody>
      </p:sp>
      <p:sp>
        <p:nvSpPr>
          <p:cNvPr id="5" name="Footer Placeholder 4">
            <a:extLst>
              <a:ext uri="{FF2B5EF4-FFF2-40B4-BE49-F238E27FC236}">
                <a16:creationId xmlns:a16="http://schemas.microsoft.com/office/drawing/2014/main" id="{8F10A71B-92E5-53AE-87D0-76830A9760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054796-C15E-72ED-5757-C347556694B7}"/>
              </a:ext>
            </a:extLst>
          </p:cNvPr>
          <p:cNvSpPr>
            <a:spLocks noGrp="1"/>
          </p:cNvSpPr>
          <p:nvPr>
            <p:ph type="sldNum" sz="quarter" idx="12"/>
          </p:nvPr>
        </p:nvSpPr>
        <p:spPr/>
        <p:txBody>
          <a:bodyPr/>
          <a:lstStyle/>
          <a:p>
            <a:fld id="{693391D1-FAE7-4D3E-9BFC-D311D91FECA7}" type="slidenum">
              <a:rPr lang="en-US" smtClean="0"/>
              <a:t>‹#›</a:t>
            </a:fld>
            <a:endParaRPr lang="en-US"/>
          </a:p>
        </p:txBody>
      </p:sp>
    </p:spTree>
    <p:extLst>
      <p:ext uri="{BB962C8B-B14F-4D97-AF65-F5344CB8AC3E}">
        <p14:creationId xmlns:p14="http://schemas.microsoft.com/office/powerpoint/2010/main" val="2935903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D7B635-FFA9-DDA5-CC59-5541ED73BB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0B3A04-E5DF-FFE5-3B6D-41669F5DE1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9915BF-8A5F-F69C-04D4-4E505FE707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3B916A-BA49-4961-A99A-C41F61E06BD1}" type="datetimeFigureOut">
              <a:rPr lang="en-US" smtClean="0"/>
              <a:t>10/17/2026</a:t>
            </a:fld>
            <a:endParaRPr lang="en-US"/>
          </a:p>
        </p:txBody>
      </p:sp>
      <p:sp>
        <p:nvSpPr>
          <p:cNvPr id="5" name="Footer Placeholder 4">
            <a:extLst>
              <a:ext uri="{FF2B5EF4-FFF2-40B4-BE49-F238E27FC236}">
                <a16:creationId xmlns:a16="http://schemas.microsoft.com/office/drawing/2014/main" id="{BEC1C4E0-2AAE-39EA-10DE-D2AA562910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51ABBE-092F-81D1-1352-70E47FF2E6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3391D1-FAE7-4D3E-9BFC-D311D91FECA7}" type="slidenum">
              <a:rPr lang="en-US" smtClean="0"/>
              <a:t>‹#›</a:t>
            </a:fld>
            <a:endParaRPr lang="en-US"/>
          </a:p>
        </p:txBody>
      </p:sp>
    </p:spTree>
    <p:extLst>
      <p:ext uri="{BB962C8B-B14F-4D97-AF65-F5344CB8AC3E}">
        <p14:creationId xmlns:p14="http://schemas.microsoft.com/office/powerpoint/2010/main" val="4114249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pranavibobbilapaty-17/online-store-card.git" TargetMode="External"/><Relationship Id="rId2" Type="http://schemas.openxmlformats.org/officeDocument/2006/relationships/hyperlink" Target="https://github.com/annampudiphanisaiakshaya-dotcom" TargetMode="Externa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jpeg"/><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op 30 Online Stores by Cart Sharing Activity (2026 Data) · Share-A-Cart">
            <a:extLst>
              <a:ext uri="{FF2B5EF4-FFF2-40B4-BE49-F238E27FC236}">
                <a16:creationId xmlns:a16="http://schemas.microsoft.com/office/drawing/2014/main" id="{433BA579-09EF-1F9F-CB15-CF449D8F3A7B}"/>
              </a:ext>
            </a:extLst>
          </p:cNvPr>
          <p:cNvPicPr>
            <a:picLocks noChangeAspect="1"/>
          </p:cNvPicPr>
          <p:nvPr/>
        </p:nvPicPr>
        <p:blipFill>
          <a:blip r:embed="rId2"/>
          <a:stretch>
            <a:fillRect/>
          </a:stretch>
        </p:blipFill>
        <p:spPr>
          <a:xfrm>
            <a:off x="-1997" y="2682"/>
            <a:ext cx="12193997" cy="6855317"/>
          </a:xfrm>
          <a:prstGeom prst="rect">
            <a:avLst/>
          </a:prstGeom>
          <a:solidFill>
            <a:schemeClr val="accent3">
              <a:lumMod val="75000"/>
            </a:schemeClr>
          </a:solidFill>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Subtitle 2">
            <a:extLst>
              <a:ext uri="{FF2B5EF4-FFF2-40B4-BE49-F238E27FC236}">
                <a16:creationId xmlns:a16="http://schemas.microsoft.com/office/drawing/2014/main" id="{8B6E9ADB-2975-8636-E253-BBB38AA7F9AF}"/>
              </a:ext>
            </a:extLst>
          </p:cNvPr>
          <p:cNvSpPr>
            <a:spLocks noGrp="1"/>
          </p:cNvSpPr>
          <p:nvPr>
            <p:ph type="subTitle" idx="1"/>
          </p:nvPr>
        </p:nvSpPr>
        <p:spPr>
          <a:xfrm>
            <a:off x="7879404" y="5735636"/>
            <a:ext cx="4182893" cy="859715"/>
          </a:xfrm>
          <a:solidFill>
            <a:schemeClr val="tx2">
              <a:lumMod val="60000"/>
              <a:lumOff val="40000"/>
            </a:schemeClr>
          </a:solidFill>
        </p:spPr>
        <p:txBody>
          <a:bodyPr>
            <a:normAutofit lnSpcReduction="10000"/>
          </a:bodyPr>
          <a:lstStyle/>
          <a:p>
            <a:r>
              <a:rPr lang="en-US" dirty="0"/>
              <a:t>Presented By :</a:t>
            </a:r>
          </a:p>
          <a:p>
            <a:r>
              <a:rPr lang="en-US" dirty="0" err="1"/>
              <a:t>A.Akshaya</a:t>
            </a:r>
            <a:r>
              <a:rPr lang="en-US" dirty="0"/>
              <a:t>   </a:t>
            </a:r>
            <a:r>
              <a:rPr lang="en-US" dirty="0" err="1"/>
              <a:t>B.Pranavi</a:t>
            </a:r>
            <a:endParaRPr lang="en-US" dirty="0"/>
          </a:p>
        </p:txBody>
      </p:sp>
      <p:pic>
        <p:nvPicPr>
          <p:cNvPr id="2" name="Picture 1" descr="KLH Hyderabad Alumni Association - Lifelong Connections">
            <a:extLst>
              <a:ext uri="{FF2B5EF4-FFF2-40B4-BE49-F238E27FC236}">
                <a16:creationId xmlns:a16="http://schemas.microsoft.com/office/drawing/2014/main" id="{26EC0857-CA9F-4433-7CC0-6E131770F924}"/>
              </a:ext>
            </a:extLst>
          </p:cNvPr>
          <p:cNvPicPr>
            <a:picLocks noChangeAspect="1"/>
          </p:cNvPicPr>
          <p:nvPr/>
        </p:nvPicPr>
        <p:blipFill>
          <a:blip r:embed="rId3"/>
          <a:stretch>
            <a:fillRect/>
          </a:stretch>
        </p:blipFill>
        <p:spPr>
          <a:xfrm>
            <a:off x="-1996" y="0"/>
            <a:ext cx="1013673" cy="891789"/>
          </a:xfrm>
          <a:prstGeom prst="rect">
            <a:avLst/>
          </a:prstGeom>
          <a:solidFill>
            <a:srgbClr val="00B050"/>
          </a:solidFill>
        </p:spPr>
      </p:pic>
    </p:spTree>
    <p:extLst>
      <p:ext uri="{BB962C8B-B14F-4D97-AF65-F5344CB8AC3E}">
        <p14:creationId xmlns:p14="http://schemas.microsoft.com/office/powerpoint/2010/main" val="3959955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6EC9611-DE94-396C-8DF6-31BF00C09361}"/>
              </a:ext>
            </a:extLst>
          </p:cNvPr>
          <p:cNvSpPr>
            <a:spLocks noGrp="1"/>
          </p:cNvSpPr>
          <p:nvPr>
            <p:ph type="title"/>
          </p:nvPr>
        </p:nvSpPr>
        <p:spPr/>
        <p:txBody>
          <a:bodyPr/>
          <a:lstStyle/>
          <a:p>
            <a:r>
              <a:rPr lang="en-US" b="1" dirty="0"/>
              <a:t>ONLINE STORE CART AND ORDER PIPELINE</a:t>
            </a:r>
            <a:br>
              <a:rPr lang="en-US" dirty="0"/>
            </a:br>
            <a:r>
              <a:rPr lang="en-US" dirty="0"/>
              <a:t>                           </a:t>
            </a:r>
            <a:r>
              <a:rPr lang="en-US" sz="3600" dirty="0"/>
              <a:t>Team No: 13</a:t>
            </a:r>
          </a:p>
        </p:txBody>
      </p:sp>
      <p:sp>
        <p:nvSpPr>
          <p:cNvPr id="6" name="Content Placeholder 5">
            <a:extLst>
              <a:ext uri="{FF2B5EF4-FFF2-40B4-BE49-F238E27FC236}">
                <a16:creationId xmlns:a16="http://schemas.microsoft.com/office/drawing/2014/main" id="{A06EC059-1FB4-AAB3-175E-8FB75DFD39DA}"/>
              </a:ext>
            </a:extLst>
          </p:cNvPr>
          <p:cNvSpPr>
            <a:spLocks noGrp="1"/>
          </p:cNvSpPr>
          <p:nvPr>
            <p:ph idx="1"/>
          </p:nvPr>
        </p:nvSpPr>
        <p:spPr/>
        <p:txBody>
          <a:bodyPr/>
          <a:lstStyle/>
          <a:p>
            <a:pPr marL="0" indent="0">
              <a:buNone/>
            </a:pPr>
            <a:r>
              <a:rPr lang="en-US" dirty="0"/>
              <a:t>STUDENT NAME : </a:t>
            </a:r>
            <a:r>
              <a:rPr lang="en-US" dirty="0" err="1"/>
              <a:t>A.Phani</a:t>
            </a:r>
            <a:r>
              <a:rPr lang="en-US" dirty="0"/>
              <a:t> Sai Akshaya      ROLL NO: 2620030308</a:t>
            </a:r>
          </a:p>
          <a:p>
            <a:pPr marL="0" indent="0">
              <a:buNone/>
            </a:pPr>
            <a:r>
              <a:rPr lang="en-US" dirty="0"/>
              <a:t>STUDENT NAME: </a:t>
            </a:r>
            <a:r>
              <a:rPr lang="en-US" dirty="0" err="1"/>
              <a:t>B.Pranavi</a:t>
            </a:r>
            <a:r>
              <a:rPr lang="en-US" dirty="0"/>
              <a:t>                          ROLL NO:  2620030520</a:t>
            </a:r>
          </a:p>
        </p:txBody>
      </p:sp>
      <p:pic>
        <p:nvPicPr>
          <p:cNvPr id="2" name="Picture 1" descr="KLH Hyderabad Alumni Association - Lifelong Connections">
            <a:extLst>
              <a:ext uri="{FF2B5EF4-FFF2-40B4-BE49-F238E27FC236}">
                <a16:creationId xmlns:a16="http://schemas.microsoft.com/office/drawing/2014/main" id="{CE788A26-A922-4234-FAC4-918B678F5978}"/>
              </a:ext>
            </a:extLst>
          </p:cNvPr>
          <p:cNvPicPr>
            <a:picLocks noChangeAspect="1"/>
          </p:cNvPicPr>
          <p:nvPr/>
        </p:nvPicPr>
        <p:blipFill>
          <a:blip r:embed="rId2"/>
          <a:stretch>
            <a:fillRect/>
          </a:stretch>
        </p:blipFill>
        <p:spPr>
          <a:xfrm>
            <a:off x="89170" y="0"/>
            <a:ext cx="749030" cy="565594"/>
          </a:xfrm>
          <a:prstGeom prst="rect">
            <a:avLst/>
          </a:prstGeom>
        </p:spPr>
      </p:pic>
    </p:spTree>
    <p:extLst>
      <p:ext uri="{BB962C8B-B14F-4D97-AF65-F5344CB8AC3E}">
        <p14:creationId xmlns:p14="http://schemas.microsoft.com/office/powerpoint/2010/main" val="659735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17B7D-6965-60F7-C72D-E8125E4EC64A}"/>
              </a:ext>
            </a:extLst>
          </p:cNvPr>
          <p:cNvSpPr>
            <a:spLocks noGrp="1"/>
          </p:cNvSpPr>
          <p:nvPr>
            <p:ph idx="1"/>
          </p:nvPr>
        </p:nvSpPr>
        <p:spPr>
          <a:xfrm>
            <a:off x="0" y="0"/>
            <a:ext cx="12192000" cy="6858000"/>
          </a:xfrm>
          <a:solidFill>
            <a:schemeClr val="bg1"/>
          </a:solidFill>
        </p:spPr>
        <p:txBody>
          <a:bodyPr>
            <a:normAutofit fontScale="85000" lnSpcReduction="20000"/>
          </a:bodyPr>
          <a:lstStyle/>
          <a:p>
            <a:pPr marL="0" indent="0">
              <a:buNone/>
            </a:pPr>
            <a:r>
              <a:rPr lang="en-US" b="1" dirty="0"/>
              <a:t>                                   Online Store Cart and Order Pipeline — Abstract </a:t>
            </a:r>
            <a:endParaRPr lang="en-US" dirty="0"/>
          </a:p>
          <a:p>
            <a:r>
              <a:rPr lang="en-US" dirty="0"/>
              <a:t>The </a:t>
            </a:r>
            <a:r>
              <a:rPr lang="en-US" b="1" dirty="0"/>
              <a:t>Online Store Cart and Order Pipeline</a:t>
            </a:r>
            <a:r>
              <a:rPr lang="en-US" dirty="0"/>
              <a:t> is a Java-based software application designed to simplify and automate the management of products, customers, shopping carts, and orders in an online store. Traditional shopping systems may require manual handling of product information, stock availability, customer details, and order processing, leading to errors and inefficient management. The proposed system provides a centralized platform for managing these activities in an organized and user-friendly manner. </a:t>
            </a:r>
          </a:p>
          <a:p>
            <a:r>
              <a:rPr lang="en-US" dirty="0"/>
              <a:t>The system allows administrators to add, view, search for, and manage product records that include details such as product ID, product name, category, price, quantity, and availability. It also maintains customer information, including customer ID, name, phone number, and email. Customers can select available products and add them to their shopping cart. The cart stores selected products, quantities, prices, and the total purchase amount. The system checks product availability before adding items to the cart and helps maintain accurate stock information. </a:t>
            </a:r>
          </a:p>
          <a:p>
            <a:r>
              <a:rPr lang="en-US" dirty="0"/>
              <a:t>After completing the shopping process, customers can place an order using the items in their cart. Each order is assigned a unique order ID and contains details such as customer information, products, quantity, total amount, and order status. The </a:t>
            </a:r>
            <a:r>
              <a:rPr lang="en-US" b="1" dirty="0"/>
              <a:t>Order Pipeline</a:t>
            </a:r>
            <a:r>
              <a:rPr lang="en-US" dirty="0"/>
              <a:t> tracks an order through different stages: </a:t>
            </a:r>
            <a:r>
              <a:rPr lang="en-US" b="1" dirty="0"/>
              <a:t>Cart → Order Placed → Processing → Shipped → Delivered</a:t>
            </a:r>
            <a:r>
              <a:rPr lang="en-US" dirty="0"/>
              <a:t>. The system can also support order cancellation when required. </a:t>
            </a:r>
          </a:p>
          <a:p>
            <a:r>
              <a:rPr lang="en-US" dirty="0"/>
              <a:t>By automating these operations, the system reduces manual work, minimizes errors, saves time, and improves order management efficiency. The application can be further enhanced with online payment, discounts, delivery tracking, notifications, and customer reviews. Overall, the project provides a simple, efficient, and reliable solution for managing online store operations and the complete order processing cycle. </a:t>
            </a:r>
          </a:p>
          <a:p>
            <a:endParaRPr lang="en-US" dirty="0"/>
          </a:p>
        </p:txBody>
      </p:sp>
      <p:pic>
        <p:nvPicPr>
          <p:cNvPr id="2" name="Picture 1" descr="KLH Hyderabad Alumni Association - Lifelong Connections">
            <a:extLst>
              <a:ext uri="{FF2B5EF4-FFF2-40B4-BE49-F238E27FC236}">
                <a16:creationId xmlns:a16="http://schemas.microsoft.com/office/drawing/2014/main" id="{04F15608-F66F-4383-CCA1-5A0CC169232B}"/>
              </a:ext>
            </a:extLst>
          </p:cNvPr>
          <p:cNvPicPr>
            <a:picLocks noChangeAspect="1"/>
          </p:cNvPicPr>
          <p:nvPr/>
        </p:nvPicPr>
        <p:blipFill>
          <a:blip r:embed="rId2"/>
          <a:stretch>
            <a:fillRect/>
          </a:stretch>
        </p:blipFill>
        <p:spPr>
          <a:xfrm>
            <a:off x="0" y="-68094"/>
            <a:ext cx="644863" cy="486937"/>
          </a:xfrm>
          <a:prstGeom prst="rect">
            <a:avLst/>
          </a:prstGeom>
        </p:spPr>
      </p:pic>
    </p:spTree>
    <p:extLst>
      <p:ext uri="{BB962C8B-B14F-4D97-AF65-F5344CB8AC3E}">
        <p14:creationId xmlns:p14="http://schemas.microsoft.com/office/powerpoint/2010/main" val="3985734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FAF14FFC-81C7-CAEB-C6BB-AB91C4E51443}"/>
              </a:ext>
            </a:extLst>
          </p:cNvPr>
          <p:cNvSpPr>
            <a:spLocks noGrp="1"/>
          </p:cNvSpPr>
          <p:nvPr>
            <p:ph idx="1"/>
          </p:nvPr>
        </p:nvSpPr>
        <p:spPr>
          <a:xfrm>
            <a:off x="0" y="0"/>
            <a:ext cx="12192000" cy="6858000"/>
          </a:xfrm>
        </p:spPr>
        <p:txBody>
          <a:bodyPr/>
          <a:lstStyle/>
          <a:p>
            <a:pPr marL="0" indent="0">
              <a:buNone/>
            </a:pPr>
            <a:endParaRPr lang="en-US" b="1" dirty="0"/>
          </a:p>
          <a:p>
            <a:pPr marL="0" indent="0">
              <a:buNone/>
            </a:pPr>
            <a:endParaRPr lang="en-US" b="1" dirty="0"/>
          </a:p>
          <a:p>
            <a:r>
              <a:rPr lang="en-US" b="1" dirty="0"/>
              <a:t>Understanding Problem Statement</a:t>
            </a:r>
          </a:p>
          <a:p>
            <a:pPr lvl="0"/>
            <a:r>
              <a:rPr lang="en-US" dirty="0"/>
              <a:t>Online shopping involves multiple steps, from selecting products to completing an order. </a:t>
            </a:r>
          </a:p>
          <a:p>
            <a:pPr lvl="0"/>
            <a:r>
              <a:rPr lang="en-US" dirty="0"/>
              <a:t>Managing the </a:t>
            </a:r>
            <a:r>
              <a:rPr lang="en-US" b="1" dirty="0"/>
              <a:t>shopping cart, product quantity, pricing, and order details</a:t>
            </a:r>
            <a:r>
              <a:rPr lang="en-US" dirty="0"/>
              <a:t> manually can lead to errors. </a:t>
            </a:r>
          </a:p>
          <a:p>
            <a:pPr lvl="0"/>
            <a:r>
              <a:rPr lang="en-US" dirty="0"/>
              <a:t>Customers need a simple way to </a:t>
            </a:r>
            <a:r>
              <a:rPr lang="en-US" b="1" dirty="0"/>
              <a:t>add, remove, and update products</a:t>
            </a:r>
            <a:r>
              <a:rPr lang="en-US" dirty="0"/>
              <a:t> in their cart. </a:t>
            </a:r>
          </a:p>
          <a:p>
            <a:pPr lvl="0"/>
            <a:r>
              <a:rPr lang="en-US" dirty="0"/>
              <a:t>The system should automatically calculate the </a:t>
            </a:r>
            <a:r>
              <a:rPr lang="en-US" b="1" dirty="0"/>
              <a:t>total order amount</a:t>
            </a:r>
            <a:r>
              <a:rPr lang="en-US" dirty="0"/>
              <a:t> based on the selected products and quantities. </a:t>
            </a:r>
          </a:p>
          <a:p>
            <a:pPr lvl="0"/>
            <a:r>
              <a:rPr lang="en-US" dirty="0"/>
              <a:t>After checkout, the order should move through a clear </a:t>
            </a:r>
            <a:r>
              <a:rPr lang="en-US" b="1" dirty="0"/>
              <a:t>order processing pipeline</a:t>
            </a:r>
            <a:r>
              <a:rPr lang="en-US" dirty="0"/>
              <a:t>. </a:t>
            </a:r>
          </a:p>
          <a:p>
            <a:pPr lvl="0"/>
            <a:r>
              <a:rPr lang="en-US" dirty="0"/>
              <a:t>The project aims to develop an efficient system that manages the </a:t>
            </a:r>
            <a:r>
              <a:rPr lang="en-US" b="1" dirty="0"/>
              <a:t>cart and order process</a:t>
            </a:r>
            <a:r>
              <a:rPr lang="en-US" dirty="0"/>
              <a:t> in an organized manner.</a:t>
            </a:r>
          </a:p>
          <a:p>
            <a:endParaRPr lang="en-US" dirty="0"/>
          </a:p>
        </p:txBody>
      </p:sp>
      <p:pic>
        <p:nvPicPr>
          <p:cNvPr id="2" name="Picture 1" descr="KLH Hyderabad Alumni Association - Lifelong Connections">
            <a:extLst>
              <a:ext uri="{FF2B5EF4-FFF2-40B4-BE49-F238E27FC236}">
                <a16:creationId xmlns:a16="http://schemas.microsoft.com/office/drawing/2014/main" id="{A9787BBF-A93C-C4E4-BA18-467F6E37B210}"/>
              </a:ext>
            </a:extLst>
          </p:cNvPr>
          <p:cNvPicPr>
            <a:picLocks noChangeAspect="1"/>
          </p:cNvPicPr>
          <p:nvPr/>
        </p:nvPicPr>
        <p:blipFill>
          <a:blip r:embed="rId2"/>
          <a:stretch>
            <a:fillRect/>
          </a:stretch>
        </p:blipFill>
        <p:spPr>
          <a:xfrm>
            <a:off x="97277" y="0"/>
            <a:ext cx="1213110" cy="916022"/>
          </a:xfrm>
          <a:prstGeom prst="rect">
            <a:avLst/>
          </a:prstGeom>
        </p:spPr>
      </p:pic>
    </p:spTree>
    <p:extLst>
      <p:ext uri="{BB962C8B-B14F-4D97-AF65-F5344CB8AC3E}">
        <p14:creationId xmlns:p14="http://schemas.microsoft.com/office/powerpoint/2010/main" val="939259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45AF1E7-7DBF-6CBB-81E5-6A4799036C01}"/>
              </a:ext>
            </a:extLst>
          </p:cNvPr>
          <p:cNvSpPr>
            <a:spLocks noGrp="1"/>
          </p:cNvSpPr>
          <p:nvPr>
            <p:ph idx="1"/>
          </p:nvPr>
        </p:nvSpPr>
        <p:spPr>
          <a:xfrm>
            <a:off x="77821" y="136187"/>
            <a:ext cx="12114179" cy="5116749"/>
          </a:xfrm>
        </p:spPr>
        <p:txBody>
          <a:bodyPr/>
          <a:lstStyle/>
          <a:p>
            <a:endParaRPr lang="en-US" b="1" dirty="0"/>
          </a:p>
          <a:p>
            <a:endParaRPr lang="en-US" b="1" dirty="0"/>
          </a:p>
          <a:p>
            <a:r>
              <a:rPr lang="en-US" b="1" dirty="0"/>
              <a:t>Problem:</a:t>
            </a:r>
            <a:br>
              <a:rPr lang="en-US" dirty="0"/>
            </a:br>
            <a:r>
              <a:rPr lang="en-US" dirty="0"/>
              <a:t>Online stores need an efficient system to manage products selected by customers, calculate cart totals, and process orders accurately.</a:t>
            </a:r>
          </a:p>
          <a:p>
            <a:r>
              <a:rPr lang="en-US" b="1" dirty="0"/>
              <a:t>Objective:</a:t>
            </a:r>
            <a:br>
              <a:rPr lang="en-US" dirty="0"/>
            </a:br>
            <a:r>
              <a:rPr lang="en-US" dirty="0"/>
              <a:t>To develop an Online Store Cart and Order Pipeline that manages cart operations and moves orders through the required processing stages in a structured way.</a:t>
            </a:r>
          </a:p>
          <a:p>
            <a:pPr marL="0" indent="0">
              <a:buNone/>
            </a:pPr>
            <a:endParaRPr lang="en-US" dirty="0"/>
          </a:p>
        </p:txBody>
      </p:sp>
      <p:pic>
        <p:nvPicPr>
          <p:cNvPr id="2" name="Picture 1" descr="KLH Hyderabad Alumni Association - Lifelong Connections">
            <a:extLst>
              <a:ext uri="{FF2B5EF4-FFF2-40B4-BE49-F238E27FC236}">
                <a16:creationId xmlns:a16="http://schemas.microsoft.com/office/drawing/2014/main" id="{EFC307C2-8AFE-7F4B-DB86-5C314922BF95}"/>
              </a:ext>
            </a:extLst>
          </p:cNvPr>
          <p:cNvPicPr>
            <a:picLocks noChangeAspect="1"/>
          </p:cNvPicPr>
          <p:nvPr/>
        </p:nvPicPr>
        <p:blipFill>
          <a:blip r:embed="rId2"/>
          <a:stretch>
            <a:fillRect/>
          </a:stretch>
        </p:blipFill>
        <p:spPr>
          <a:xfrm>
            <a:off x="0" y="0"/>
            <a:ext cx="991958" cy="749030"/>
          </a:xfrm>
          <a:prstGeom prst="rect">
            <a:avLst/>
          </a:prstGeom>
        </p:spPr>
      </p:pic>
    </p:spTree>
    <p:extLst>
      <p:ext uri="{BB962C8B-B14F-4D97-AF65-F5344CB8AC3E}">
        <p14:creationId xmlns:p14="http://schemas.microsoft.com/office/powerpoint/2010/main" val="751597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5AEB5-A199-527E-7E79-66D51B28858B}"/>
              </a:ext>
            </a:extLst>
          </p:cNvPr>
          <p:cNvSpPr>
            <a:spLocks noGrp="1"/>
          </p:cNvSpPr>
          <p:nvPr>
            <p:ph type="title"/>
          </p:nvPr>
        </p:nvSpPr>
        <p:spPr>
          <a:xfrm>
            <a:off x="0" y="1"/>
            <a:ext cx="11196536" cy="1001948"/>
          </a:xfrm>
        </p:spPr>
        <p:txBody>
          <a:bodyPr/>
          <a:lstStyle/>
          <a:p>
            <a:r>
              <a:rPr lang="en-US" dirty="0"/>
              <a:t>                CO-1 Topics – Basic Operators</a:t>
            </a:r>
          </a:p>
        </p:txBody>
      </p:sp>
      <p:sp>
        <p:nvSpPr>
          <p:cNvPr id="3" name="Content Placeholder 2">
            <a:extLst>
              <a:ext uri="{FF2B5EF4-FFF2-40B4-BE49-F238E27FC236}">
                <a16:creationId xmlns:a16="http://schemas.microsoft.com/office/drawing/2014/main" id="{1D418FAD-0266-6575-157E-48FA60BB579D}"/>
              </a:ext>
            </a:extLst>
          </p:cNvPr>
          <p:cNvSpPr>
            <a:spLocks noGrp="1"/>
          </p:cNvSpPr>
          <p:nvPr>
            <p:ph idx="1"/>
          </p:nvPr>
        </p:nvSpPr>
        <p:spPr>
          <a:xfrm>
            <a:off x="0" y="904672"/>
            <a:ext cx="11196536" cy="5428034"/>
          </a:xfrm>
        </p:spPr>
        <p:txBody>
          <a:bodyPr>
            <a:normAutofit lnSpcReduction="10000"/>
          </a:bodyPr>
          <a:lstStyle/>
          <a:p>
            <a:r>
              <a:rPr lang="en-US" b="1" dirty="0"/>
              <a:t>Definition:</a:t>
            </a:r>
          </a:p>
          <a:p>
            <a:pPr marL="0" indent="0">
              <a:buNone/>
            </a:pPr>
            <a:r>
              <a:rPr lang="en-US" dirty="0"/>
              <a:t>Operators are special symbols used to perform operations on variables and values.</a:t>
            </a:r>
          </a:p>
          <a:p>
            <a:pPr marL="0" indent="0">
              <a:buNone/>
            </a:pPr>
            <a:r>
              <a:rPr lang="en-US" dirty="0">
                <a:sym typeface="Wingdings" panose="05000000000000000000" pitchFamily="2" charset="2"/>
              </a:rPr>
              <a:t></a:t>
            </a:r>
            <a:r>
              <a:rPr lang="en-US" dirty="0"/>
              <a:t>Syntax: operand1 operator operand2;</a:t>
            </a:r>
          </a:p>
          <a:p>
            <a:pPr marL="0" indent="0">
              <a:buNone/>
            </a:pPr>
            <a:r>
              <a:rPr lang="en-US" dirty="0"/>
              <a:t>Example: total = price * quantity;</a:t>
            </a:r>
          </a:p>
          <a:p>
            <a:pPr marL="0" indent="0">
              <a:buNone/>
            </a:pPr>
            <a:r>
              <a:rPr lang="en-US" dirty="0">
                <a:sym typeface="Wingdings" panose="05000000000000000000" pitchFamily="2" charset="2"/>
              </a:rPr>
              <a:t></a:t>
            </a:r>
            <a:r>
              <a:rPr lang="en-US" dirty="0"/>
              <a:t>Arithmetic Operator Syntax :</a:t>
            </a:r>
          </a:p>
          <a:p>
            <a:pPr marL="0" indent="0">
              <a:buNone/>
            </a:pPr>
            <a:r>
              <a:rPr lang="en-US" dirty="0"/>
              <a:t>result = operand1 + operand2;</a:t>
            </a:r>
          </a:p>
          <a:p>
            <a:pPr marL="0" indent="0">
              <a:buNone/>
            </a:pPr>
            <a:r>
              <a:rPr lang="en-US" dirty="0"/>
              <a:t>result = operand1 - operand2;</a:t>
            </a:r>
          </a:p>
          <a:p>
            <a:pPr marL="0" indent="0">
              <a:buNone/>
            </a:pPr>
            <a:r>
              <a:rPr lang="en-US" dirty="0"/>
              <a:t>result = operand1 * operand2;</a:t>
            </a:r>
          </a:p>
          <a:p>
            <a:pPr marL="0" indent="0">
              <a:buNone/>
            </a:pPr>
            <a:r>
              <a:rPr lang="en-US" dirty="0"/>
              <a:t>result = operand1 / operand2;</a:t>
            </a:r>
          </a:p>
          <a:p>
            <a:pPr marL="0" indent="0">
              <a:buNone/>
            </a:pPr>
            <a:r>
              <a:rPr lang="en-US" dirty="0"/>
              <a:t>result = operand1 % operand2;</a:t>
            </a:r>
          </a:p>
          <a:p>
            <a:pPr marL="0" indent="0">
              <a:buNone/>
            </a:pPr>
            <a:endParaRPr lang="en-US" dirty="0"/>
          </a:p>
          <a:p>
            <a:pPr marL="0" indent="0">
              <a:buNone/>
            </a:pPr>
            <a:endParaRPr lang="en-US" dirty="0"/>
          </a:p>
          <a:p>
            <a:endParaRPr lang="en-US" dirty="0"/>
          </a:p>
        </p:txBody>
      </p:sp>
      <p:pic>
        <p:nvPicPr>
          <p:cNvPr id="4" name="Picture 3" descr="KLH Hyderabad Alumni Association - Lifelong Connections">
            <a:extLst>
              <a:ext uri="{FF2B5EF4-FFF2-40B4-BE49-F238E27FC236}">
                <a16:creationId xmlns:a16="http://schemas.microsoft.com/office/drawing/2014/main" id="{77B89C4A-9367-8A94-6F5D-40A7FAF9EC83}"/>
              </a:ext>
            </a:extLst>
          </p:cNvPr>
          <p:cNvPicPr>
            <a:picLocks noChangeAspect="1"/>
          </p:cNvPicPr>
          <p:nvPr/>
        </p:nvPicPr>
        <p:blipFill>
          <a:blip r:embed="rId2"/>
          <a:stretch>
            <a:fillRect/>
          </a:stretch>
        </p:blipFill>
        <p:spPr>
          <a:xfrm>
            <a:off x="47569" y="0"/>
            <a:ext cx="1184637" cy="894522"/>
          </a:xfrm>
          <a:prstGeom prst="rect">
            <a:avLst/>
          </a:prstGeom>
        </p:spPr>
      </p:pic>
    </p:spTree>
    <p:extLst>
      <p:ext uri="{BB962C8B-B14F-4D97-AF65-F5344CB8AC3E}">
        <p14:creationId xmlns:p14="http://schemas.microsoft.com/office/powerpoint/2010/main" val="1053056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7F9BB-2646-2851-69EB-D453B160C77A}"/>
              </a:ext>
            </a:extLst>
          </p:cNvPr>
          <p:cNvSpPr>
            <a:spLocks noGrp="1"/>
          </p:cNvSpPr>
          <p:nvPr>
            <p:ph type="title"/>
          </p:nvPr>
        </p:nvSpPr>
        <p:spPr>
          <a:xfrm>
            <a:off x="0" y="1"/>
            <a:ext cx="11235447" cy="661480"/>
          </a:xfrm>
        </p:spPr>
        <p:txBody>
          <a:bodyPr>
            <a:normAutofit fontScale="90000"/>
          </a:bodyPr>
          <a:lstStyle/>
          <a:p>
            <a:r>
              <a:rPr lang="en-US" dirty="0"/>
              <a:t>                   CO-2 Topics - ITERATION/ LOOPS</a:t>
            </a:r>
          </a:p>
        </p:txBody>
      </p:sp>
      <p:sp>
        <p:nvSpPr>
          <p:cNvPr id="5" name="Content Placeholder 4">
            <a:extLst>
              <a:ext uri="{FF2B5EF4-FFF2-40B4-BE49-F238E27FC236}">
                <a16:creationId xmlns:a16="http://schemas.microsoft.com/office/drawing/2014/main" id="{ABC91B45-D36D-43BD-4906-7BF33EFE1A49}"/>
              </a:ext>
            </a:extLst>
          </p:cNvPr>
          <p:cNvSpPr>
            <a:spLocks noGrp="1"/>
          </p:cNvSpPr>
          <p:nvPr>
            <p:ph idx="1"/>
          </p:nvPr>
        </p:nvSpPr>
        <p:spPr>
          <a:xfrm>
            <a:off x="147536" y="1138136"/>
            <a:ext cx="11235447" cy="5583576"/>
          </a:xfrm>
        </p:spPr>
        <p:txBody>
          <a:bodyPr/>
          <a:lstStyle/>
          <a:p>
            <a:r>
              <a:rPr lang="en-US" b="1" dirty="0"/>
              <a:t>Definition of Iteration:</a:t>
            </a:r>
          </a:p>
          <a:p>
            <a:pPr marL="0" indent="0">
              <a:buNone/>
            </a:pPr>
            <a:r>
              <a:rPr lang="en-US" dirty="0"/>
              <a:t>Iteration means one repetition of a set of instructions in a loop.</a:t>
            </a:r>
          </a:p>
          <a:p>
            <a:pPr>
              <a:buFont typeface="Wingdings" panose="05000000000000000000" pitchFamily="2" charset="2"/>
              <a:buChar char="à"/>
            </a:pPr>
            <a:r>
              <a:rPr lang="en-US" dirty="0"/>
              <a:t>An iteration is one complete execution or repetition of a loop.</a:t>
            </a:r>
          </a:p>
          <a:p>
            <a:pPr>
              <a:buFont typeface="Wingdings" panose="05000000000000000000" pitchFamily="2" charset="2"/>
              <a:buChar char="à"/>
            </a:pPr>
            <a:r>
              <a:rPr lang="en-US" dirty="0"/>
              <a:t>There are 3 types of loops :</a:t>
            </a:r>
          </a:p>
          <a:p>
            <a:pPr>
              <a:buFont typeface="Wingdings" panose="05000000000000000000" pitchFamily="2" charset="2"/>
              <a:buChar char="à"/>
            </a:pPr>
            <a:r>
              <a:rPr lang="en-US" dirty="0"/>
              <a:t>For loop</a:t>
            </a:r>
          </a:p>
          <a:p>
            <a:pPr>
              <a:buFont typeface="Wingdings" panose="05000000000000000000" pitchFamily="2" charset="2"/>
              <a:buChar char="à"/>
            </a:pPr>
            <a:r>
              <a:rPr lang="en-US" dirty="0"/>
              <a:t>while loop</a:t>
            </a:r>
          </a:p>
          <a:p>
            <a:pPr>
              <a:buFont typeface="Wingdings" panose="05000000000000000000" pitchFamily="2" charset="2"/>
              <a:buChar char="à"/>
            </a:pPr>
            <a:r>
              <a:rPr lang="en-US" dirty="0"/>
              <a:t>do-while loop</a:t>
            </a:r>
          </a:p>
          <a:p>
            <a:pPr marL="0" indent="0">
              <a:buNone/>
            </a:pPr>
            <a:endParaRPr lang="en-US" dirty="0"/>
          </a:p>
          <a:p>
            <a:pPr>
              <a:buFont typeface="Wingdings" panose="05000000000000000000" pitchFamily="2" charset="2"/>
              <a:buChar char="à"/>
            </a:pPr>
            <a:endParaRPr lang="en-US" dirty="0"/>
          </a:p>
          <a:p>
            <a:endParaRPr lang="en-US" dirty="0"/>
          </a:p>
        </p:txBody>
      </p:sp>
      <p:pic>
        <p:nvPicPr>
          <p:cNvPr id="3" name="Picture 2" descr="KLH Hyderabad Alumni Association - Lifelong Connections">
            <a:extLst>
              <a:ext uri="{FF2B5EF4-FFF2-40B4-BE49-F238E27FC236}">
                <a16:creationId xmlns:a16="http://schemas.microsoft.com/office/drawing/2014/main" id="{435848D5-E232-04F3-6DFB-C27A18C81FF2}"/>
              </a:ext>
            </a:extLst>
          </p:cNvPr>
          <p:cNvPicPr>
            <a:picLocks noChangeAspect="1"/>
          </p:cNvPicPr>
          <p:nvPr/>
        </p:nvPicPr>
        <p:blipFill>
          <a:blip r:embed="rId2"/>
          <a:stretch>
            <a:fillRect/>
          </a:stretch>
        </p:blipFill>
        <p:spPr>
          <a:xfrm>
            <a:off x="71336" y="0"/>
            <a:ext cx="885217" cy="668429"/>
          </a:xfrm>
          <a:prstGeom prst="rect">
            <a:avLst/>
          </a:prstGeom>
        </p:spPr>
      </p:pic>
    </p:spTree>
    <p:extLst>
      <p:ext uri="{BB962C8B-B14F-4D97-AF65-F5344CB8AC3E}">
        <p14:creationId xmlns:p14="http://schemas.microsoft.com/office/powerpoint/2010/main" val="515318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148B1-522E-1A65-432C-01F990DFDF08}"/>
              </a:ext>
            </a:extLst>
          </p:cNvPr>
          <p:cNvSpPr>
            <a:spLocks noGrp="1"/>
          </p:cNvSpPr>
          <p:nvPr>
            <p:ph type="title"/>
          </p:nvPr>
        </p:nvSpPr>
        <p:spPr>
          <a:xfrm>
            <a:off x="0" y="1"/>
            <a:ext cx="12192000" cy="681036"/>
          </a:xfrm>
        </p:spPr>
        <p:txBody>
          <a:bodyPr>
            <a:normAutofit fontScale="90000"/>
          </a:bodyPr>
          <a:lstStyle/>
          <a:p>
            <a:r>
              <a:rPr lang="en-US" dirty="0"/>
              <a:t>                        CO-3 TOPIC : ARRAYS</a:t>
            </a:r>
          </a:p>
        </p:txBody>
      </p:sp>
      <p:sp>
        <p:nvSpPr>
          <p:cNvPr id="3" name="Content Placeholder 2">
            <a:extLst>
              <a:ext uri="{FF2B5EF4-FFF2-40B4-BE49-F238E27FC236}">
                <a16:creationId xmlns:a16="http://schemas.microsoft.com/office/drawing/2014/main" id="{8BCF47B4-7D94-F6A6-E6F9-7E3CC881EC48}"/>
              </a:ext>
            </a:extLst>
          </p:cNvPr>
          <p:cNvSpPr>
            <a:spLocks noGrp="1"/>
          </p:cNvSpPr>
          <p:nvPr>
            <p:ph idx="1"/>
          </p:nvPr>
        </p:nvSpPr>
        <p:spPr>
          <a:xfrm>
            <a:off x="0" y="544749"/>
            <a:ext cx="12191999" cy="6313249"/>
          </a:xfrm>
        </p:spPr>
        <p:txBody>
          <a:bodyPr>
            <a:normAutofit lnSpcReduction="10000"/>
          </a:bodyPr>
          <a:lstStyle/>
          <a:p>
            <a:endParaRPr lang="en-US" dirty="0"/>
          </a:p>
          <a:p>
            <a:r>
              <a:rPr lang="en-US" dirty="0"/>
              <a:t>Definition Of Array :</a:t>
            </a:r>
          </a:p>
          <a:p>
            <a:pPr marL="0" indent="0">
              <a:buNone/>
            </a:pPr>
            <a:r>
              <a:rPr lang="en-US" dirty="0"/>
              <a:t>An array is a data structure that stores multiple values of the same data type in a single variable.</a:t>
            </a:r>
          </a:p>
          <a:p>
            <a:r>
              <a:rPr lang="en-US" dirty="0"/>
              <a:t>Each value is stored at a specific index, starting from 0.</a:t>
            </a:r>
          </a:p>
          <a:p>
            <a:r>
              <a:rPr lang="en-US" dirty="0"/>
              <a:t>Syntax: </a:t>
            </a:r>
            <a:r>
              <a:rPr lang="en-US" dirty="0" err="1"/>
              <a:t>dataType</a:t>
            </a:r>
            <a:r>
              <a:rPr lang="en-US" dirty="0"/>
              <a:t>[] </a:t>
            </a:r>
            <a:r>
              <a:rPr lang="en-US" dirty="0" err="1"/>
              <a:t>arrayName</a:t>
            </a:r>
            <a:r>
              <a:rPr lang="en-US" dirty="0"/>
              <a:t> = new </a:t>
            </a:r>
            <a:r>
              <a:rPr lang="en-US" dirty="0" err="1"/>
              <a:t>dataType</a:t>
            </a:r>
            <a:r>
              <a:rPr lang="en-US" dirty="0"/>
              <a:t>[size]; (</a:t>
            </a:r>
            <a:r>
              <a:rPr lang="en-US" dirty="0" err="1"/>
              <a:t>Declaration+size</a:t>
            </a:r>
            <a:r>
              <a:rPr lang="en-US" dirty="0"/>
              <a:t>).</a:t>
            </a:r>
          </a:p>
          <a:p>
            <a:pPr marL="0" indent="0">
              <a:buNone/>
            </a:pPr>
            <a:r>
              <a:rPr lang="en-US" dirty="0"/>
              <a:t>           </a:t>
            </a:r>
            <a:r>
              <a:rPr lang="en-US" dirty="0" err="1"/>
              <a:t>dataType</a:t>
            </a:r>
            <a:r>
              <a:rPr lang="en-US" dirty="0"/>
              <a:t>[] </a:t>
            </a:r>
            <a:r>
              <a:rPr lang="en-US" dirty="0" err="1"/>
              <a:t>arrayName</a:t>
            </a:r>
            <a:r>
              <a:rPr lang="en-US" dirty="0"/>
              <a:t> = {value1, value2, value3};(</a:t>
            </a:r>
            <a:r>
              <a:rPr lang="en-US" dirty="0" err="1"/>
              <a:t>Declaration+values</a:t>
            </a:r>
            <a:r>
              <a:rPr lang="en-US" dirty="0"/>
              <a:t>).</a:t>
            </a:r>
          </a:p>
          <a:p>
            <a:r>
              <a:rPr lang="en-US" dirty="0"/>
              <a:t>Example:</a:t>
            </a:r>
          </a:p>
          <a:p>
            <a:pPr marL="0" indent="0">
              <a:buNone/>
            </a:pPr>
            <a:r>
              <a:rPr lang="en-US" dirty="0"/>
              <a:t>int[] numbers = {10, 20, 30, 40};</a:t>
            </a:r>
          </a:p>
          <a:p>
            <a:pPr marL="0" indent="0">
              <a:buNone/>
            </a:pPr>
            <a:r>
              <a:rPr lang="en-US" dirty="0">
                <a:sym typeface="Wingdings" panose="05000000000000000000" pitchFamily="2" charset="2"/>
              </a:rPr>
              <a:t></a:t>
            </a:r>
            <a:r>
              <a:rPr lang="en-US" dirty="0"/>
              <a:t>Index:    0    1    2    3</a:t>
            </a:r>
          </a:p>
          <a:p>
            <a:pPr marL="0" indent="0">
              <a:buNone/>
            </a:pPr>
            <a:r>
              <a:rPr lang="en-US" dirty="0"/>
              <a:t>    Value:   10   20   30   40</a:t>
            </a:r>
          </a:p>
          <a:p>
            <a:pPr marL="0" indent="0">
              <a:buNone/>
            </a:pPr>
            <a:r>
              <a:rPr lang="en-US" dirty="0">
                <a:sym typeface="Wingdings" panose="05000000000000000000" pitchFamily="2" charset="2"/>
              </a:rPr>
              <a:t> numbers[0]  → 10</a:t>
            </a:r>
          </a:p>
          <a:p>
            <a:pPr marL="0" indent="0">
              <a:buNone/>
            </a:pPr>
            <a:r>
              <a:rPr lang="en-US" dirty="0">
                <a:sym typeface="Wingdings" panose="05000000000000000000" pitchFamily="2" charset="2"/>
              </a:rPr>
              <a:t>      numbers[2]  → 30</a:t>
            </a:r>
            <a:endParaRPr lang="en-US" dirty="0"/>
          </a:p>
          <a:p>
            <a:endParaRPr lang="en-US" dirty="0"/>
          </a:p>
        </p:txBody>
      </p:sp>
      <p:pic>
        <p:nvPicPr>
          <p:cNvPr id="4" name="Picture 3" descr="KLH Hyderabad Alumni Association - Lifelong Connections">
            <a:extLst>
              <a:ext uri="{FF2B5EF4-FFF2-40B4-BE49-F238E27FC236}">
                <a16:creationId xmlns:a16="http://schemas.microsoft.com/office/drawing/2014/main" id="{EC530508-F0E6-A334-9F08-C9772E4D7F38}"/>
              </a:ext>
            </a:extLst>
          </p:cNvPr>
          <p:cNvPicPr>
            <a:picLocks noChangeAspect="1"/>
          </p:cNvPicPr>
          <p:nvPr/>
        </p:nvPicPr>
        <p:blipFill>
          <a:blip r:embed="rId2"/>
          <a:stretch>
            <a:fillRect/>
          </a:stretch>
        </p:blipFill>
        <p:spPr>
          <a:xfrm>
            <a:off x="87549" y="10829"/>
            <a:ext cx="856034" cy="646393"/>
          </a:xfrm>
          <a:prstGeom prst="rect">
            <a:avLst/>
          </a:prstGeom>
        </p:spPr>
      </p:pic>
    </p:spTree>
    <p:extLst>
      <p:ext uri="{BB962C8B-B14F-4D97-AF65-F5344CB8AC3E}">
        <p14:creationId xmlns:p14="http://schemas.microsoft.com/office/powerpoint/2010/main" val="13105015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743F1-1348-7F76-DC65-B7483B8E5C06}"/>
              </a:ext>
            </a:extLst>
          </p:cNvPr>
          <p:cNvSpPr>
            <a:spLocks noGrp="1"/>
          </p:cNvSpPr>
          <p:nvPr>
            <p:ph type="title"/>
          </p:nvPr>
        </p:nvSpPr>
        <p:spPr>
          <a:xfrm>
            <a:off x="917643" y="1"/>
            <a:ext cx="10436157" cy="1186774"/>
          </a:xfrm>
        </p:spPr>
        <p:txBody>
          <a:bodyPr>
            <a:normAutofit/>
          </a:bodyPr>
          <a:lstStyle/>
          <a:p>
            <a:r>
              <a:rPr lang="en-US" sz="3200" dirty="0"/>
              <a:t>CO – 4 OBJECT ORIENTED PROGRAMMING(OOPS)</a:t>
            </a:r>
          </a:p>
        </p:txBody>
      </p:sp>
      <p:sp>
        <p:nvSpPr>
          <p:cNvPr id="3" name="Content Placeholder 2">
            <a:extLst>
              <a:ext uri="{FF2B5EF4-FFF2-40B4-BE49-F238E27FC236}">
                <a16:creationId xmlns:a16="http://schemas.microsoft.com/office/drawing/2014/main" id="{CC736DD2-4FE6-202C-ECBB-14DB4FF446F9}"/>
              </a:ext>
            </a:extLst>
          </p:cNvPr>
          <p:cNvSpPr>
            <a:spLocks noGrp="1"/>
          </p:cNvSpPr>
          <p:nvPr>
            <p:ph idx="1"/>
          </p:nvPr>
        </p:nvSpPr>
        <p:spPr>
          <a:xfrm>
            <a:off x="1" y="885217"/>
            <a:ext cx="12192000" cy="5972782"/>
          </a:xfrm>
        </p:spPr>
        <p:txBody>
          <a:bodyPr>
            <a:normAutofit fontScale="85000" lnSpcReduction="20000"/>
          </a:bodyPr>
          <a:lstStyle/>
          <a:p>
            <a:pPr marL="0" indent="0">
              <a:buNone/>
            </a:pPr>
            <a:r>
              <a:rPr lang="en-US" sz="2400" dirty="0"/>
              <a:t>Introduction</a:t>
            </a:r>
            <a:r>
              <a:rPr lang="en-US" sz="2400" b="1" dirty="0"/>
              <a:t>:</a:t>
            </a:r>
          </a:p>
          <a:p>
            <a:pPr marL="0" indent="0">
              <a:buNone/>
            </a:pPr>
            <a:r>
              <a:rPr lang="en-US" sz="1800" b="1" dirty="0"/>
              <a:t>Object-Oriented Programming (OOP)</a:t>
            </a:r>
            <a:r>
              <a:rPr lang="en-US" sz="1800" dirty="0"/>
              <a:t> is a programming approach where a program is designed using objects.</a:t>
            </a:r>
          </a:p>
          <a:p>
            <a:pPr marL="0" indent="0">
              <a:buNone/>
            </a:pPr>
            <a:r>
              <a:rPr lang="en-US" sz="1800" b="1" i="1" dirty="0"/>
              <a:t>Class</a:t>
            </a:r>
            <a:r>
              <a:rPr lang="en-US" sz="1800" dirty="0"/>
              <a:t> : A class is a blueprint or template for creating objects.</a:t>
            </a:r>
          </a:p>
          <a:p>
            <a:pPr marL="0" indent="0">
              <a:buNone/>
            </a:pPr>
            <a:r>
              <a:rPr lang="en-US" sz="1800" b="1" dirty="0"/>
              <a:t>Object : </a:t>
            </a:r>
            <a:r>
              <a:rPr lang="en-US" sz="1800" dirty="0"/>
              <a:t>An object is an instance of a class.</a:t>
            </a:r>
          </a:p>
          <a:p>
            <a:pPr marL="0" indent="0">
              <a:buNone/>
            </a:pPr>
            <a:r>
              <a:rPr lang="en-US" sz="1800" dirty="0"/>
              <a:t>We can create multiple objects from one class.</a:t>
            </a:r>
          </a:p>
          <a:p>
            <a:pPr marL="0" indent="0">
              <a:buNone/>
            </a:pPr>
            <a:r>
              <a:rPr lang="en-US" sz="1800" b="1" dirty="0"/>
              <a:t>this Keyword :</a:t>
            </a:r>
            <a:r>
              <a:rPr lang="en-US" sz="1800" dirty="0"/>
              <a:t>The this</a:t>
            </a:r>
            <a:r>
              <a:rPr lang="en-US" sz="1800" b="1" dirty="0"/>
              <a:t> keyword</a:t>
            </a:r>
            <a:r>
              <a:rPr lang="en-US" sz="1800" dirty="0"/>
              <a:t> is a reference that refers to the </a:t>
            </a:r>
            <a:r>
              <a:rPr lang="en-US" sz="1800" b="1" dirty="0"/>
              <a:t>current object</a:t>
            </a:r>
            <a:r>
              <a:rPr lang="en-US" sz="1800" dirty="0"/>
              <a:t>.</a:t>
            </a:r>
          </a:p>
          <a:p>
            <a:pPr marL="0" indent="0">
              <a:buNone/>
            </a:pPr>
            <a:r>
              <a:rPr lang="en-US" sz="1800" b="1" dirty="0">
                <a:sym typeface="Wingdings" panose="05000000000000000000" pitchFamily="2" charset="2"/>
              </a:rPr>
              <a:t></a:t>
            </a:r>
            <a:r>
              <a:rPr lang="en-US" sz="1800" dirty="0"/>
              <a:t>It is mainly used when the instance variable and constructor/method parameter have the same name.</a:t>
            </a:r>
          </a:p>
          <a:p>
            <a:r>
              <a:rPr lang="en-US" sz="1800" b="1" dirty="0"/>
              <a:t>Constructors : </a:t>
            </a:r>
            <a:r>
              <a:rPr lang="en-US" sz="1800" dirty="0"/>
              <a:t>A constructor is a special member of a class used to initialize objects.</a:t>
            </a:r>
          </a:p>
          <a:p>
            <a:pPr>
              <a:buFont typeface="Wingdings" panose="05000000000000000000" pitchFamily="2" charset="2"/>
              <a:buChar char="à"/>
            </a:pPr>
            <a:r>
              <a:rPr lang="en-US" sz="1800" dirty="0"/>
              <a:t>Has the same name as the class.</a:t>
            </a:r>
          </a:p>
          <a:p>
            <a:pPr>
              <a:buFont typeface="Wingdings" panose="05000000000000000000" pitchFamily="2" charset="2"/>
              <a:buChar char="à"/>
            </a:pPr>
            <a:r>
              <a:rPr lang="en-US" sz="1800" dirty="0"/>
              <a:t>Does not have a return type.</a:t>
            </a:r>
          </a:p>
          <a:p>
            <a:pPr>
              <a:buFont typeface="Wingdings" panose="05000000000000000000" pitchFamily="2" charset="2"/>
              <a:buChar char="à"/>
            </a:pPr>
            <a:r>
              <a:rPr lang="en-US" sz="1800" dirty="0"/>
              <a:t> Is automatically called when an object is created</a:t>
            </a:r>
          </a:p>
          <a:p>
            <a:r>
              <a:rPr lang="en-US" sz="1800" dirty="0"/>
              <a:t> </a:t>
            </a:r>
            <a:r>
              <a:rPr lang="en-US" sz="1800" b="1" dirty="0"/>
              <a:t>Default Constructor : </a:t>
            </a:r>
            <a:r>
              <a:rPr lang="en-US" sz="1800" dirty="0"/>
              <a:t>A default constructor is a constructor that takes no arguments.</a:t>
            </a:r>
          </a:p>
          <a:p>
            <a:r>
              <a:rPr lang="en-US" sz="1800" b="1" dirty="0"/>
              <a:t>Parameterized Constructor:</a:t>
            </a:r>
          </a:p>
          <a:p>
            <a:pPr marL="0" indent="0">
              <a:buNone/>
            </a:pPr>
            <a:r>
              <a:rPr lang="en-US" sz="1800" dirty="0"/>
              <a:t>   A constructor that receives arguments is called a parameterized constructor.</a:t>
            </a:r>
          </a:p>
          <a:p>
            <a:r>
              <a:rPr lang="en-US" sz="1800" b="1" dirty="0"/>
              <a:t>Constructor Overloading :</a:t>
            </a:r>
            <a:endParaRPr lang="en-US" sz="1800" dirty="0"/>
          </a:p>
          <a:p>
            <a:pPr marL="0" indent="0">
              <a:buNone/>
            </a:pPr>
            <a:r>
              <a:rPr lang="en-US" sz="1800" dirty="0"/>
              <a:t>       Constructor overloading means having multiple constructors in the same class with different parameter lists.</a:t>
            </a:r>
          </a:p>
          <a:p>
            <a:r>
              <a:rPr lang="en-US" sz="1800" b="1" dirty="0"/>
              <a:t>Fields :</a:t>
            </a:r>
          </a:p>
          <a:p>
            <a:pPr marL="0" indent="0">
              <a:buNone/>
            </a:pPr>
            <a:r>
              <a:rPr lang="en-US" sz="1800" dirty="0"/>
              <a:t>       Fields are variables declared inside a class.</a:t>
            </a:r>
          </a:p>
          <a:p>
            <a:r>
              <a:rPr lang="en-US" sz="1800" b="1" dirty="0"/>
              <a:t>Methods :</a:t>
            </a:r>
          </a:p>
          <a:p>
            <a:pPr marL="0" indent="0">
              <a:buNone/>
            </a:pPr>
            <a:r>
              <a:rPr lang="en-US" sz="1800" dirty="0"/>
              <a:t>        A </a:t>
            </a:r>
            <a:r>
              <a:rPr lang="en-US" sz="1800" b="1" dirty="0"/>
              <a:t>method</a:t>
            </a:r>
            <a:r>
              <a:rPr lang="en-US" sz="1800" dirty="0"/>
              <a:t> defines the behavior or action of an object.</a:t>
            </a:r>
          </a:p>
          <a:p>
            <a:endParaRPr lang="en-US" sz="1800" dirty="0"/>
          </a:p>
          <a:p>
            <a:pPr marL="0" indent="0">
              <a:buNone/>
            </a:pPr>
            <a:endParaRPr lang="en-US" sz="1800" dirty="0"/>
          </a:p>
          <a:p>
            <a:pPr marL="0" indent="0">
              <a:buNone/>
            </a:pPr>
            <a:endParaRPr lang="en-US" sz="1800" b="1"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p:txBody>
      </p:sp>
      <p:pic>
        <p:nvPicPr>
          <p:cNvPr id="5" name="Picture 4" descr="KLH Hyderabad Alumni Association - Lifelong Connections">
            <a:extLst>
              <a:ext uri="{FF2B5EF4-FFF2-40B4-BE49-F238E27FC236}">
                <a16:creationId xmlns:a16="http://schemas.microsoft.com/office/drawing/2014/main" id="{D8EABCC0-50A4-92CF-21DC-C0B9167D0853}"/>
              </a:ext>
            </a:extLst>
          </p:cNvPr>
          <p:cNvPicPr>
            <a:picLocks noChangeAspect="1"/>
          </p:cNvPicPr>
          <p:nvPr/>
        </p:nvPicPr>
        <p:blipFill>
          <a:blip r:embed="rId2"/>
          <a:stretch>
            <a:fillRect/>
          </a:stretch>
        </p:blipFill>
        <p:spPr>
          <a:xfrm>
            <a:off x="71337" y="1"/>
            <a:ext cx="760072" cy="573932"/>
          </a:xfrm>
          <a:prstGeom prst="rect">
            <a:avLst/>
          </a:prstGeom>
        </p:spPr>
      </p:pic>
    </p:spTree>
    <p:extLst>
      <p:ext uri="{BB962C8B-B14F-4D97-AF65-F5344CB8AC3E}">
        <p14:creationId xmlns:p14="http://schemas.microsoft.com/office/powerpoint/2010/main" val="3613102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FD20D4-AD39-6032-2769-498F2DF089B1}"/>
              </a:ext>
            </a:extLst>
          </p:cNvPr>
          <p:cNvSpPr>
            <a:spLocks noGrp="1"/>
          </p:cNvSpPr>
          <p:nvPr>
            <p:ph idx="1"/>
          </p:nvPr>
        </p:nvSpPr>
        <p:spPr>
          <a:xfrm>
            <a:off x="1" y="573932"/>
            <a:ext cx="12192000" cy="6284067"/>
          </a:xfrm>
        </p:spPr>
        <p:txBody>
          <a:bodyPr>
            <a:normAutofit lnSpcReduction="10000"/>
          </a:bodyPr>
          <a:lstStyle/>
          <a:p>
            <a:r>
              <a:rPr lang="en-US" altLang="en-US" dirty="0"/>
              <a:t>Encapsulation</a:t>
            </a:r>
            <a:r>
              <a:rPr lang="en-IN" altLang="en-US" dirty="0"/>
              <a:t>:</a:t>
            </a:r>
          </a:p>
          <a:p>
            <a:r>
              <a:rPr lang="en-US" altLang="en-US" dirty="0"/>
              <a:t>Encapsulation is defined as the process of wrapping data and the methods into a single unit, typically a class. It is the mechanism that binds together the code and the data. </a:t>
            </a:r>
            <a:endParaRPr lang="en-US" altLang="en-US" b="1" dirty="0">
              <a:sym typeface="+mn-ea"/>
            </a:endParaRPr>
          </a:p>
          <a:p>
            <a:r>
              <a:rPr lang="en-US" altLang="en-US" b="1" dirty="0">
                <a:sym typeface="+mn-ea"/>
              </a:rPr>
              <a:t>Inheritance :</a:t>
            </a:r>
          </a:p>
          <a:p>
            <a:r>
              <a:rPr lang="en-US" altLang="en-US" dirty="0">
                <a:sym typeface="+mn-ea"/>
              </a:rPr>
              <a:t>Inheritance is a fundamental concept in OOP(Object-Oriented Programming).</a:t>
            </a:r>
          </a:p>
          <a:p>
            <a:r>
              <a:rPr lang="en-US" altLang="en-US" dirty="0">
                <a:sym typeface="+mn-ea"/>
              </a:rPr>
              <a:t>Inheritance use extends keyword to inherit from a class</a:t>
            </a:r>
          </a:p>
          <a:p>
            <a:r>
              <a:rPr lang="en-US" altLang="en-US" dirty="0"/>
              <a:t> the different types of inheritance which are supported by Java.</a:t>
            </a:r>
          </a:p>
          <a:p>
            <a:pPr marL="514350" indent="-514350">
              <a:buFont typeface="+mj-lt"/>
              <a:buAutoNum type="arabicPeriod"/>
            </a:pPr>
            <a:r>
              <a:rPr lang="en-US" altLang="en-US" dirty="0"/>
              <a:t>Single Inheritance</a:t>
            </a:r>
          </a:p>
          <a:p>
            <a:pPr marL="514350" indent="-514350">
              <a:buFont typeface="+mj-lt"/>
              <a:buAutoNum type="arabicPeriod"/>
            </a:pPr>
            <a:r>
              <a:rPr lang="en-US" altLang="en-US" dirty="0"/>
              <a:t>Multilevel Inheritance</a:t>
            </a:r>
          </a:p>
          <a:p>
            <a:pPr marL="514350" indent="-514350">
              <a:buFont typeface="+mj-lt"/>
              <a:buAutoNum type="arabicPeriod"/>
            </a:pPr>
            <a:r>
              <a:rPr lang="en-US" altLang="en-US" dirty="0"/>
              <a:t>Hierarchical Inheritance</a:t>
            </a:r>
          </a:p>
          <a:p>
            <a:pPr marL="514350" indent="-514350">
              <a:buFont typeface="+mj-lt"/>
              <a:buAutoNum type="arabicPeriod"/>
            </a:pPr>
            <a:r>
              <a:rPr lang="en-US" altLang="en-US" dirty="0"/>
              <a:t>Multiple Inheritance</a:t>
            </a:r>
          </a:p>
          <a:p>
            <a:pPr marL="514350" indent="-514350">
              <a:buFont typeface="+mj-lt"/>
              <a:buAutoNum type="arabicPeriod"/>
            </a:pPr>
            <a:r>
              <a:rPr lang="en-US" altLang="en-US" dirty="0"/>
              <a:t>Hybrid Inheritance</a:t>
            </a:r>
          </a:p>
          <a:p>
            <a:endParaRPr lang="en-US" altLang="en-US" dirty="0">
              <a:sym typeface="+mn-ea"/>
            </a:endParaRPr>
          </a:p>
          <a:p>
            <a:endParaRPr lang="en-US" dirty="0"/>
          </a:p>
        </p:txBody>
      </p:sp>
      <p:pic>
        <p:nvPicPr>
          <p:cNvPr id="5" name="Picture 4" descr="KLH Hyderabad Alumni Association - Lifelong Connections">
            <a:extLst>
              <a:ext uri="{FF2B5EF4-FFF2-40B4-BE49-F238E27FC236}">
                <a16:creationId xmlns:a16="http://schemas.microsoft.com/office/drawing/2014/main" id="{080BA048-F95B-94DD-C974-28E429C01D02}"/>
              </a:ext>
            </a:extLst>
          </p:cNvPr>
          <p:cNvPicPr>
            <a:picLocks noChangeAspect="1"/>
          </p:cNvPicPr>
          <p:nvPr/>
        </p:nvPicPr>
        <p:blipFill>
          <a:blip r:embed="rId2"/>
          <a:stretch>
            <a:fillRect/>
          </a:stretch>
        </p:blipFill>
        <p:spPr>
          <a:xfrm>
            <a:off x="71337" y="1"/>
            <a:ext cx="760072" cy="573932"/>
          </a:xfrm>
          <a:prstGeom prst="rect">
            <a:avLst/>
          </a:prstGeom>
        </p:spPr>
      </p:pic>
    </p:spTree>
    <p:extLst>
      <p:ext uri="{BB962C8B-B14F-4D97-AF65-F5344CB8AC3E}">
        <p14:creationId xmlns:p14="http://schemas.microsoft.com/office/powerpoint/2010/main" val="13453774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8D9A95-98E4-87C0-1924-1C12178C45A8}"/>
              </a:ext>
            </a:extLst>
          </p:cNvPr>
          <p:cNvSpPr>
            <a:spLocks noGrp="1"/>
          </p:cNvSpPr>
          <p:nvPr>
            <p:ph idx="1"/>
          </p:nvPr>
        </p:nvSpPr>
        <p:spPr>
          <a:xfrm>
            <a:off x="0" y="573933"/>
            <a:ext cx="12192000" cy="6284066"/>
          </a:xfrm>
        </p:spPr>
        <p:txBody>
          <a:bodyPr>
            <a:normAutofit/>
          </a:bodyPr>
          <a:lstStyle/>
          <a:p>
            <a:r>
              <a:rPr lang="en-US" altLang="en-US" sz="2000" b="1" dirty="0">
                <a:sym typeface="+mn-ea"/>
              </a:rPr>
              <a:t>Single Inheritance</a:t>
            </a:r>
            <a:r>
              <a:rPr lang="en-IN" altLang="en-US" sz="2000" b="1" dirty="0">
                <a:sym typeface="+mn-ea"/>
              </a:rPr>
              <a:t>:</a:t>
            </a:r>
            <a:r>
              <a:rPr lang="en-IN" altLang="en-US" sz="2000" dirty="0">
                <a:sym typeface="+mn-ea"/>
              </a:rPr>
              <a:t> </a:t>
            </a:r>
            <a:r>
              <a:rPr lang="en-US" altLang="en-US" sz="2000" dirty="0"/>
              <a:t>a sub-class is derived from only one super class. It inherits the properties and behavior of a single-parent class.</a:t>
            </a:r>
          </a:p>
          <a:p>
            <a:r>
              <a:rPr lang="en-US" altLang="en-US" sz="2000" b="1" dirty="0"/>
              <a:t>Multilevel Inheritance</a:t>
            </a:r>
            <a:r>
              <a:rPr lang="en-IN" altLang="en-US" sz="2000" b="1" dirty="0"/>
              <a:t>:</a:t>
            </a:r>
            <a:r>
              <a:rPr lang="en-IN" altLang="en-US" sz="2000" dirty="0"/>
              <a:t> </a:t>
            </a:r>
            <a:r>
              <a:rPr lang="en-US" altLang="en-US" sz="2000" dirty="0"/>
              <a:t>In Multilevel Inheritance, a derived class will be inheriting a base class, and as well as the derived class also acts as the base class for other classes.</a:t>
            </a:r>
          </a:p>
          <a:p>
            <a:r>
              <a:rPr lang="en-US" altLang="en-US" sz="2000" b="1" dirty="0"/>
              <a:t>Hi</a:t>
            </a:r>
            <a:r>
              <a:rPr lang="en-IN" altLang="en-US" sz="2000" b="1" dirty="0"/>
              <a:t>e</a:t>
            </a:r>
            <a:r>
              <a:rPr lang="en-US" altLang="en-US" sz="2000" b="1" dirty="0" err="1"/>
              <a:t>rarchical</a:t>
            </a:r>
            <a:r>
              <a:rPr lang="en-US" altLang="en-US" sz="2000" b="1" dirty="0"/>
              <a:t> Inheritance</a:t>
            </a:r>
            <a:r>
              <a:rPr lang="en-IN" altLang="en-US" sz="2000" b="1" dirty="0"/>
              <a:t>:</a:t>
            </a:r>
            <a:r>
              <a:rPr lang="en-IN" altLang="en-US" sz="2000" dirty="0"/>
              <a:t> </a:t>
            </a:r>
            <a:r>
              <a:rPr lang="en-US" altLang="en-US" sz="2000" dirty="0"/>
              <a:t>In Hierarchical Inheritance, one class serves as a superclass (base class) for more than one subclass.</a:t>
            </a:r>
          </a:p>
          <a:p>
            <a:r>
              <a:rPr lang="en-US" altLang="en-US" sz="2000" b="1" dirty="0">
                <a:latin typeface="Times New Roman" panose="02020603050405020304" charset="0"/>
                <a:cs typeface="Times New Roman" panose="02020603050405020304" charset="0"/>
              </a:rPr>
              <a:t>Multiple Inheritance (Through Interfaces)</a:t>
            </a:r>
            <a:r>
              <a:rPr lang="en-IN" altLang="en-US" sz="2000" b="1" dirty="0">
                <a:latin typeface="Times New Roman" panose="02020603050405020304" charset="0"/>
                <a:cs typeface="Times New Roman" panose="02020603050405020304" charset="0"/>
              </a:rPr>
              <a:t>:</a:t>
            </a:r>
          </a:p>
          <a:p>
            <a:pPr marL="0" indent="0">
              <a:buNone/>
            </a:pPr>
            <a:r>
              <a:rPr lang="en-US" altLang="en-US" sz="2000" dirty="0">
                <a:latin typeface="Times New Roman" panose="02020603050405020304" charset="0"/>
                <a:cs typeface="Times New Roman" panose="02020603050405020304" charset="0"/>
              </a:rPr>
              <a:t>one class can have more than one superclass and inherit features from all parent classes. Please note that Java does not support multiple inheritances with classes. In Java, we can achieve multiple inheritances only through</a:t>
            </a:r>
            <a:r>
              <a:rPr lang="en-US" altLang="en-US" sz="2000" b="1" dirty="0">
                <a:latin typeface="Times New Roman" panose="02020603050405020304" charset="0"/>
                <a:cs typeface="Times New Roman" panose="02020603050405020304" charset="0"/>
              </a:rPr>
              <a:t> Interfaces</a:t>
            </a:r>
            <a:r>
              <a:rPr lang="en-US" altLang="en-US" sz="2000" dirty="0">
                <a:latin typeface="Times New Roman" panose="02020603050405020304" charset="0"/>
                <a:cs typeface="Times New Roman" panose="02020603050405020304" charset="0"/>
              </a:rPr>
              <a:t>.</a:t>
            </a:r>
          </a:p>
          <a:p>
            <a:pPr marL="0" indent="0">
              <a:buNone/>
            </a:pPr>
            <a:r>
              <a:rPr lang="en-US" altLang="en-US" sz="2000" dirty="0"/>
              <a:t> Hybrid Inheritance</a:t>
            </a:r>
            <a:r>
              <a:rPr lang="en-IN" altLang="en-US" sz="2000" dirty="0"/>
              <a:t>: </a:t>
            </a:r>
            <a:r>
              <a:rPr lang="en-US" altLang="en-US" sz="2000" dirty="0"/>
              <a:t>It is a mix of two or more of the above types of inheritance.</a:t>
            </a:r>
          </a:p>
          <a:p>
            <a:pPr marL="0" indent="0">
              <a:buNone/>
            </a:pPr>
            <a:r>
              <a:rPr lang="en-US" altLang="en-US" sz="2000" b="1" dirty="0"/>
              <a:t>Polymorphism </a:t>
            </a:r>
            <a:r>
              <a:rPr lang="en-US" altLang="en-US" sz="2000" dirty="0"/>
              <a:t>: Polymorphism means "many forms",  and it comes from the Greek words poly (many) and morph (forms)</a:t>
            </a:r>
            <a:r>
              <a:rPr lang="en-IN" altLang="en-US" sz="2000" dirty="0"/>
              <a:t>.</a:t>
            </a:r>
          </a:p>
          <a:p>
            <a:pPr marL="0" indent="0">
              <a:buNone/>
            </a:pPr>
            <a:r>
              <a:rPr lang="en-IN" altLang="en-US" sz="2000" dirty="0"/>
              <a:t>There are two types:</a:t>
            </a:r>
          </a:p>
          <a:p>
            <a:pPr marL="0" indent="0">
              <a:buNone/>
            </a:pPr>
            <a:r>
              <a:rPr lang="en-US" altLang="en-US" sz="2000" dirty="0"/>
              <a:t>Method Overloading: The return type of these methods can or cannot be same.</a:t>
            </a:r>
          </a:p>
          <a:p>
            <a:pPr marL="0" indent="0">
              <a:buNone/>
            </a:pPr>
            <a:r>
              <a:rPr lang="en-US" altLang="en-US" sz="2000" dirty="0"/>
              <a:t>Method Overriding: the same name, return-type and parameters as in parent class. </a:t>
            </a:r>
          </a:p>
          <a:p>
            <a:pPr marL="0" indent="0">
              <a:buNone/>
            </a:pPr>
            <a:endParaRPr lang="en-IN" altLang="en-US" sz="2000" dirty="0"/>
          </a:p>
          <a:p>
            <a:pPr marL="0" indent="0">
              <a:buNone/>
            </a:pPr>
            <a:endParaRPr lang="en-US" altLang="en-US" sz="2000" dirty="0"/>
          </a:p>
          <a:p>
            <a:pPr marL="0" indent="0">
              <a:buNone/>
            </a:pPr>
            <a:endParaRPr lang="en-US" altLang="en-US" sz="2000" dirty="0">
              <a:latin typeface="Times New Roman" panose="02020603050405020304" charset="0"/>
              <a:cs typeface="Times New Roman" panose="02020603050405020304" charset="0"/>
            </a:endParaRPr>
          </a:p>
          <a:p>
            <a:pPr marL="0" indent="0">
              <a:buNone/>
            </a:pPr>
            <a:endParaRPr lang="en-US" altLang="en-US" sz="2000" dirty="0">
              <a:sym typeface="+mn-ea"/>
            </a:endParaRPr>
          </a:p>
          <a:p>
            <a:endParaRPr lang="en-US" altLang="en-US" sz="2000" dirty="0"/>
          </a:p>
          <a:p>
            <a:pPr marL="0" indent="0">
              <a:buNone/>
            </a:pPr>
            <a:endParaRPr lang="en-US" altLang="en-US" sz="2000" dirty="0">
              <a:latin typeface="Times New Roman" panose="02020603050405020304" charset="0"/>
              <a:cs typeface="Times New Roman" panose="02020603050405020304" charset="0"/>
            </a:endParaRPr>
          </a:p>
          <a:p>
            <a:pPr marL="0" indent="0">
              <a:buNone/>
            </a:pPr>
            <a:endParaRPr lang="en-US" altLang="en-US" sz="2000" dirty="0">
              <a:sym typeface="+mn-ea"/>
            </a:endParaRPr>
          </a:p>
          <a:p>
            <a:pPr marL="0" indent="0">
              <a:buNone/>
            </a:pPr>
            <a:endParaRPr lang="en-US" altLang="en-US" sz="2000" dirty="0"/>
          </a:p>
          <a:p>
            <a:endParaRPr lang="en-US" dirty="0"/>
          </a:p>
        </p:txBody>
      </p:sp>
      <p:pic>
        <p:nvPicPr>
          <p:cNvPr id="5" name="Picture 4" descr="KLH Hyderabad Alumni Association - Lifelong Connections">
            <a:extLst>
              <a:ext uri="{FF2B5EF4-FFF2-40B4-BE49-F238E27FC236}">
                <a16:creationId xmlns:a16="http://schemas.microsoft.com/office/drawing/2014/main" id="{EA873068-95D9-08DD-9E33-6E8ECC6413BA}"/>
              </a:ext>
            </a:extLst>
          </p:cNvPr>
          <p:cNvPicPr>
            <a:picLocks noChangeAspect="1"/>
          </p:cNvPicPr>
          <p:nvPr/>
        </p:nvPicPr>
        <p:blipFill>
          <a:blip r:embed="rId2"/>
          <a:stretch>
            <a:fillRect/>
          </a:stretch>
        </p:blipFill>
        <p:spPr>
          <a:xfrm>
            <a:off x="71337" y="1"/>
            <a:ext cx="760072" cy="573932"/>
          </a:xfrm>
          <a:prstGeom prst="rect">
            <a:avLst/>
          </a:prstGeom>
        </p:spPr>
      </p:pic>
    </p:spTree>
    <p:extLst>
      <p:ext uri="{BB962C8B-B14F-4D97-AF65-F5344CB8AC3E}">
        <p14:creationId xmlns:p14="http://schemas.microsoft.com/office/powerpoint/2010/main" val="1525182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36488F-4C24-5AF1-2EAB-FC16C9742E35}"/>
              </a:ext>
            </a:extLst>
          </p:cNvPr>
          <p:cNvSpPr>
            <a:spLocks noGrp="1"/>
          </p:cNvSpPr>
          <p:nvPr>
            <p:ph idx="1"/>
          </p:nvPr>
        </p:nvSpPr>
        <p:spPr>
          <a:xfrm>
            <a:off x="33741" y="573933"/>
            <a:ext cx="12158259" cy="6284066"/>
          </a:xfrm>
        </p:spPr>
        <p:txBody>
          <a:bodyPr>
            <a:normAutofit/>
          </a:bodyPr>
          <a:lstStyle/>
          <a:p>
            <a:r>
              <a:rPr lang="en-US" altLang="en-US" sz="2400" dirty="0"/>
              <a:t>Abstract Class :</a:t>
            </a:r>
          </a:p>
          <a:p>
            <a:r>
              <a:rPr lang="en-US" altLang="en-US" sz="2400" dirty="0"/>
              <a:t>abstraction is the process of </a:t>
            </a:r>
            <a:r>
              <a:rPr lang="en-US" altLang="en-US" sz="2400" b="1" dirty="0"/>
              <a:t>hiding certain details and showing only essential information to the user</a:t>
            </a:r>
            <a:r>
              <a:rPr lang="en-US" altLang="en-US" sz="2400" dirty="0"/>
              <a:t>.</a:t>
            </a:r>
          </a:p>
          <a:p>
            <a:r>
              <a:rPr lang="en-US" altLang="en-US" sz="2400" dirty="0"/>
              <a:t>The abstract keyword is a non-access modifier, used for classes and methods</a:t>
            </a:r>
            <a:r>
              <a:rPr lang="en-IN" altLang="en-US" sz="2400" dirty="0"/>
              <a:t>.</a:t>
            </a:r>
            <a:endParaRPr lang="en-US" altLang="en-US" sz="2400" dirty="0"/>
          </a:p>
          <a:p>
            <a:r>
              <a:rPr lang="en-US" altLang="en-US" sz="2400" dirty="0"/>
              <a:t>Abstract class</a:t>
            </a:r>
            <a:r>
              <a:rPr lang="en-IN" altLang="en-US" sz="2400" dirty="0"/>
              <a:t>:</a:t>
            </a:r>
            <a:r>
              <a:rPr lang="en-US" altLang="en-US" sz="2400" dirty="0"/>
              <a:t> is a restricted class that cannot be used to create objects (to access it, it must be inherited from another class).</a:t>
            </a:r>
          </a:p>
          <a:p>
            <a:r>
              <a:rPr lang="en-US" altLang="en-US" sz="2400" dirty="0"/>
              <a:t>Abstract method: can only be used in an abstract class, and it does not have a body. The body is provided by the subclass (inherited from).</a:t>
            </a:r>
          </a:p>
          <a:p>
            <a:r>
              <a:rPr lang="en-US" altLang="en-US" sz="2400" dirty="0"/>
              <a:t>Interfaces : An interface is a completely "abstract class" that is used to group related methods      with empty bodies</a:t>
            </a:r>
            <a:r>
              <a:rPr lang="en-IN" altLang="en-US" sz="2400" dirty="0"/>
              <a:t>.</a:t>
            </a:r>
          </a:p>
          <a:p>
            <a:r>
              <a:rPr lang="en-US" altLang="en-US" sz="2400" dirty="0"/>
              <a:t>Interface methods do not have a body - the body is provided by the "implement" class</a:t>
            </a:r>
            <a:r>
              <a:rPr lang="en-IN" altLang="en-US" sz="2400" dirty="0"/>
              <a:t>.</a:t>
            </a:r>
            <a:endParaRPr lang="en-US" altLang="en-US" sz="2400" dirty="0"/>
          </a:p>
          <a:p>
            <a:r>
              <a:rPr lang="en-US" altLang="en-US" sz="2400" dirty="0"/>
              <a:t>Interface methods are by default abstract and public</a:t>
            </a:r>
            <a:r>
              <a:rPr lang="en-IN" altLang="en-US" sz="2400" dirty="0"/>
              <a:t>.</a:t>
            </a:r>
            <a:endParaRPr lang="en-US" altLang="en-US" sz="2400" dirty="0"/>
          </a:p>
          <a:p>
            <a:r>
              <a:rPr lang="en-US" altLang="en-US" sz="2400" dirty="0"/>
              <a:t>Interface </a:t>
            </a:r>
            <a:r>
              <a:rPr lang="en-IN" altLang="en-US" sz="2400" dirty="0"/>
              <a:t>variables</a:t>
            </a:r>
            <a:r>
              <a:rPr lang="en-US" altLang="en-US" sz="2400" dirty="0"/>
              <a:t> are by default public, static and final</a:t>
            </a:r>
            <a:r>
              <a:rPr lang="en-IN" altLang="en-US" sz="2400" dirty="0"/>
              <a:t>.</a:t>
            </a:r>
            <a:endParaRPr lang="en-US" altLang="en-US" sz="2400" dirty="0"/>
          </a:p>
          <a:p>
            <a:endParaRPr lang="en-IN" altLang="en-US" sz="2400" dirty="0"/>
          </a:p>
          <a:p>
            <a:endParaRPr lang="en-US" altLang="en-US" sz="2400" dirty="0"/>
          </a:p>
          <a:p>
            <a:endParaRPr lang="en-US" altLang="en-US" sz="2400" dirty="0"/>
          </a:p>
          <a:p>
            <a:endParaRPr lang="en-US" dirty="0"/>
          </a:p>
        </p:txBody>
      </p:sp>
      <p:pic>
        <p:nvPicPr>
          <p:cNvPr id="5" name="Picture 4" descr="KLH Hyderabad Alumni Association - Lifelong Connections">
            <a:extLst>
              <a:ext uri="{FF2B5EF4-FFF2-40B4-BE49-F238E27FC236}">
                <a16:creationId xmlns:a16="http://schemas.microsoft.com/office/drawing/2014/main" id="{21CF35E0-3E24-983F-3E0E-623C73D78B5C}"/>
              </a:ext>
            </a:extLst>
          </p:cNvPr>
          <p:cNvPicPr>
            <a:picLocks noChangeAspect="1"/>
          </p:cNvPicPr>
          <p:nvPr/>
        </p:nvPicPr>
        <p:blipFill>
          <a:blip r:embed="rId2"/>
          <a:stretch>
            <a:fillRect/>
          </a:stretch>
        </p:blipFill>
        <p:spPr>
          <a:xfrm>
            <a:off x="71337" y="1"/>
            <a:ext cx="760072" cy="573932"/>
          </a:xfrm>
          <a:prstGeom prst="rect">
            <a:avLst/>
          </a:prstGeom>
        </p:spPr>
      </p:pic>
    </p:spTree>
    <p:extLst>
      <p:ext uri="{BB962C8B-B14F-4D97-AF65-F5344CB8AC3E}">
        <p14:creationId xmlns:p14="http://schemas.microsoft.com/office/powerpoint/2010/main" val="4242572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07CF5-D5F3-D0B8-4678-DCD9E61647A6}"/>
              </a:ext>
            </a:extLst>
          </p:cNvPr>
          <p:cNvSpPr>
            <a:spLocks noGrp="1"/>
          </p:cNvSpPr>
          <p:nvPr>
            <p:ph type="title"/>
          </p:nvPr>
        </p:nvSpPr>
        <p:spPr>
          <a:xfrm>
            <a:off x="1023025" y="145916"/>
            <a:ext cx="10330775" cy="856033"/>
          </a:xfrm>
        </p:spPr>
        <p:txBody>
          <a:bodyPr>
            <a:normAutofit/>
          </a:bodyPr>
          <a:lstStyle/>
          <a:p>
            <a:r>
              <a:rPr lang="en-US" sz="4000" dirty="0"/>
              <a:t>CO – 5 STRINGS </a:t>
            </a:r>
          </a:p>
        </p:txBody>
      </p:sp>
      <p:sp>
        <p:nvSpPr>
          <p:cNvPr id="3" name="Content Placeholder 2">
            <a:extLst>
              <a:ext uri="{FF2B5EF4-FFF2-40B4-BE49-F238E27FC236}">
                <a16:creationId xmlns:a16="http://schemas.microsoft.com/office/drawing/2014/main" id="{0DF5E202-9467-97AC-2975-CFDEC5870AF3}"/>
              </a:ext>
            </a:extLst>
          </p:cNvPr>
          <p:cNvSpPr>
            <a:spLocks noGrp="1"/>
          </p:cNvSpPr>
          <p:nvPr>
            <p:ph idx="1"/>
          </p:nvPr>
        </p:nvSpPr>
        <p:spPr>
          <a:xfrm>
            <a:off x="71337" y="911225"/>
            <a:ext cx="11893684" cy="5946774"/>
          </a:xfrm>
        </p:spPr>
        <p:txBody>
          <a:bodyPr>
            <a:normAutofit fontScale="92500" lnSpcReduction="10000"/>
          </a:bodyPr>
          <a:lstStyle/>
          <a:p>
            <a:r>
              <a:rPr lang="en-US" altLang="en-US" b="1" dirty="0"/>
              <a:t>StringBuilder</a:t>
            </a:r>
          </a:p>
          <a:p>
            <a:r>
              <a:rPr lang="en-US" altLang="en-US" dirty="0"/>
              <a:t>StringBuilder is mutable</a:t>
            </a:r>
            <a:r>
              <a:rPr lang="en-IN" altLang="en-US" dirty="0"/>
              <a:t>: </a:t>
            </a:r>
            <a:r>
              <a:rPr lang="en-US" altLang="en-US" dirty="0"/>
              <a:t>we can change its contents without creating a new String for every modification.</a:t>
            </a:r>
          </a:p>
          <a:p>
            <a:pPr marL="0" indent="0">
              <a:buNone/>
            </a:pPr>
            <a:r>
              <a:rPr lang="en-US" altLang="en-US" dirty="0"/>
              <a:t>StringBuilder sb = new StringBuilder("Hello");</a:t>
            </a:r>
          </a:p>
          <a:p>
            <a:pPr marL="0" indent="0">
              <a:buNone/>
            </a:pPr>
            <a:r>
              <a:rPr lang="en-US" altLang="en-US" dirty="0" err="1"/>
              <a:t>sb.append</a:t>
            </a:r>
            <a:r>
              <a:rPr lang="en-US" altLang="en-US" dirty="0"/>
              <a:t>(" Java");</a:t>
            </a:r>
          </a:p>
          <a:p>
            <a:pPr marL="0" indent="0">
              <a:buNone/>
            </a:pPr>
            <a:r>
              <a:rPr lang="en-US" altLang="en-US" dirty="0" err="1"/>
              <a:t>sb.append</a:t>
            </a:r>
            <a:r>
              <a:rPr lang="en-US" altLang="en-US" dirty="0"/>
              <a:t>(" Programming");</a:t>
            </a:r>
          </a:p>
          <a:p>
            <a:pPr marL="0" indent="0">
              <a:buNone/>
            </a:pPr>
            <a:r>
              <a:rPr lang="en-US" altLang="en-US" dirty="0" err="1"/>
              <a:t>System.out.println</a:t>
            </a:r>
            <a:r>
              <a:rPr lang="en-US" altLang="en-US" dirty="0"/>
              <a:t>(sb);</a:t>
            </a:r>
            <a:r>
              <a:rPr lang="en-IN" altLang="en-US" dirty="0"/>
              <a:t> // </a:t>
            </a:r>
            <a:r>
              <a:rPr lang="en-US" altLang="en-US" dirty="0"/>
              <a:t>Hello Java Programming</a:t>
            </a:r>
          </a:p>
          <a:p>
            <a:pPr marL="0" indent="0">
              <a:buNone/>
            </a:pPr>
            <a:r>
              <a:rPr lang="en-US" altLang="en-US" dirty="0"/>
              <a:t>Common methods</a:t>
            </a:r>
            <a:r>
              <a:rPr lang="en-IN" altLang="en-US" dirty="0"/>
              <a:t>:</a:t>
            </a:r>
          </a:p>
          <a:p>
            <a:pPr marL="0" indent="0">
              <a:buNone/>
            </a:pPr>
            <a:r>
              <a:rPr lang="en-US" altLang="en-US" dirty="0"/>
              <a:t>append()</a:t>
            </a:r>
          </a:p>
          <a:p>
            <a:pPr marL="0" indent="0">
              <a:buNone/>
            </a:pPr>
            <a:r>
              <a:rPr lang="en-US" altLang="en-US" dirty="0"/>
              <a:t>insert()</a:t>
            </a:r>
          </a:p>
          <a:p>
            <a:pPr marL="0" indent="0">
              <a:buNone/>
            </a:pPr>
            <a:r>
              <a:rPr lang="en-US" altLang="en-US" dirty="0"/>
              <a:t>delete()</a:t>
            </a:r>
          </a:p>
          <a:p>
            <a:pPr marL="0" indent="0">
              <a:buNone/>
            </a:pPr>
            <a:r>
              <a:rPr lang="en-US" altLang="en-US" dirty="0"/>
              <a:t>replace()</a:t>
            </a:r>
          </a:p>
          <a:p>
            <a:pPr marL="0" indent="0">
              <a:buNone/>
            </a:pPr>
            <a:r>
              <a:rPr lang="en-US" altLang="en-US" dirty="0"/>
              <a:t>reverse()</a:t>
            </a:r>
          </a:p>
          <a:p>
            <a:endParaRPr lang="en-US" dirty="0"/>
          </a:p>
        </p:txBody>
      </p:sp>
      <p:pic>
        <p:nvPicPr>
          <p:cNvPr id="5" name="Picture 4" descr="KLH Hyderabad Alumni Association - Lifelong Connections">
            <a:extLst>
              <a:ext uri="{FF2B5EF4-FFF2-40B4-BE49-F238E27FC236}">
                <a16:creationId xmlns:a16="http://schemas.microsoft.com/office/drawing/2014/main" id="{2D16E887-BA62-E1A5-1597-5B8560F9F830}"/>
              </a:ext>
            </a:extLst>
          </p:cNvPr>
          <p:cNvPicPr>
            <a:picLocks noChangeAspect="1"/>
          </p:cNvPicPr>
          <p:nvPr/>
        </p:nvPicPr>
        <p:blipFill>
          <a:blip r:embed="rId2"/>
          <a:stretch>
            <a:fillRect/>
          </a:stretch>
        </p:blipFill>
        <p:spPr>
          <a:xfrm>
            <a:off x="71337" y="1"/>
            <a:ext cx="760072" cy="573932"/>
          </a:xfrm>
          <a:prstGeom prst="rect">
            <a:avLst/>
          </a:prstGeom>
        </p:spPr>
      </p:pic>
    </p:spTree>
    <p:extLst>
      <p:ext uri="{BB962C8B-B14F-4D97-AF65-F5344CB8AC3E}">
        <p14:creationId xmlns:p14="http://schemas.microsoft.com/office/powerpoint/2010/main" val="553684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5333C-4BB7-FAB3-DD1C-C698A6A45E5F}"/>
              </a:ext>
            </a:extLst>
          </p:cNvPr>
          <p:cNvSpPr>
            <a:spLocks noGrp="1"/>
          </p:cNvSpPr>
          <p:nvPr>
            <p:ph type="title"/>
          </p:nvPr>
        </p:nvSpPr>
        <p:spPr>
          <a:xfrm>
            <a:off x="916021" y="141389"/>
            <a:ext cx="10515600" cy="1325563"/>
          </a:xfrm>
        </p:spPr>
        <p:txBody>
          <a:bodyPr>
            <a:normAutofit/>
          </a:bodyPr>
          <a:lstStyle/>
          <a:p>
            <a:r>
              <a:rPr lang="en-US" altLang="en-US" sz="3600" b="1" dirty="0" err="1"/>
              <a:t>StringBuffer</a:t>
            </a:r>
            <a:r>
              <a:rPr lang="en-US" altLang="en-US" sz="3600" b="1" dirty="0"/>
              <a:t>:</a:t>
            </a:r>
            <a:br>
              <a:rPr lang="en-US" altLang="en-US" sz="4000" b="1" dirty="0"/>
            </a:br>
            <a:endParaRPr lang="en-US" sz="4000" dirty="0"/>
          </a:p>
        </p:txBody>
      </p:sp>
      <p:sp>
        <p:nvSpPr>
          <p:cNvPr id="3" name="Content Placeholder 2">
            <a:extLst>
              <a:ext uri="{FF2B5EF4-FFF2-40B4-BE49-F238E27FC236}">
                <a16:creationId xmlns:a16="http://schemas.microsoft.com/office/drawing/2014/main" id="{194937D1-0F9B-700F-C73D-3751B2C14DAA}"/>
              </a:ext>
            </a:extLst>
          </p:cNvPr>
          <p:cNvSpPr>
            <a:spLocks noGrp="1"/>
          </p:cNvSpPr>
          <p:nvPr>
            <p:ph idx="1"/>
          </p:nvPr>
        </p:nvSpPr>
        <p:spPr>
          <a:xfrm>
            <a:off x="0" y="804169"/>
            <a:ext cx="12192000" cy="6053829"/>
          </a:xfrm>
        </p:spPr>
        <p:txBody>
          <a:bodyPr>
            <a:normAutofit/>
          </a:bodyPr>
          <a:lstStyle/>
          <a:p>
            <a:r>
              <a:rPr lang="en-US" altLang="en-US" dirty="0" err="1"/>
              <a:t>StringBuffer</a:t>
            </a:r>
            <a:r>
              <a:rPr lang="en-US" altLang="en-US" dirty="0"/>
              <a:t> is also mutable</a:t>
            </a:r>
            <a:r>
              <a:rPr lang="en-IN" altLang="en-US" dirty="0"/>
              <a:t>.</a:t>
            </a:r>
          </a:p>
          <a:p>
            <a:pPr marL="0" indent="0">
              <a:buNone/>
            </a:pPr>
            <a:r>
              <a:rPr lang="en-US" altLang="en-US" dirty="0" err="1"/>
              <a:t>StringBuffer</a:t>
            </a:r>
            <a:r>
              <a:rPr lang="en-US" altLang="en-US" dirty="0"/>
              <a:t> sb = new </a:t>
            </a:r>
            <a:r>
              <a:rPr lang="en-US" altLang="en-US" dirty="0" err="1"/>
              <a:t>StringBuffer</a:t>
            </a:r>
            <a:r>
              <a:rPr lang="en-US" altLang="en-US" dirty="0"/>
              <a:t>("Hello");</a:t>
            </a:r>
          </a:p>
          <a:p>
            <a:pPr marL="0" indent="0">
              <a:buNone/>
            </a:pPr>
            <a:r>
              <a:rPr lang="en-US" altLang="en-US" dirty="0" err="1"/>
              <a:t>sb.append</a:t>
            </a:r>
            <a:r>
              <a:rPr lang="en-US" altLang="en-US" dirty="0"/>
              <a:t>(" World!");</a:t>
            </a:r>
          </a:p>
          <a:p>
            <a:pPr marL="0" indent="0">
              <a:buNone/>
            </a:pPr>
            <a:r>
              <a:rPr lang="en-US" altLang="en-US" dirty="0" err="1"/>
              <a:t>System.out.println</a:t>
            </a:r>
            <a:r>
              <a:rPr lang="en-US" altLang="en-US" dirty="0"/>
              <a:t>(sb);</a:t>
            </a:r>
          </a:p>
          <a:p>
            <a:pPr marL="0" indent="0">
              <a:buNone/>
            </a:pPr>
            <a:endParaRPr lang="en-US" altLang="en-US" dirty="0"/>
          </a:p>
          <a:p>
            <a:pPr marL="0" indent="0">
              <a:buNone/>
            </a:pPr>
            <a:r>
              <a:rPr lang="en-US" altLang="en-US" dirty="0"/>
              <a:t>Parsing Text Using split()</a:t>
            </a:r>
            <a:r>
              <a:rPr lang="en-IN" altLang="en-US" dirty="0"/>
              <a:t>:</a:t>
            </a:r>
            <a:endParaRPr lang="en-US" altLang="en-US" dirty="0"/>
          </a:p>
          <a:p>
            <a:pPr marL="0" indent="0">
              <a:buNone/>
            </a:pPr>
            <a:r>
              <a:rPr lang="en-US" altLang="en-US" dirty="0">
                <a:sym typeface="Wingdings" panose="05000000000000000000" pitchFamily="2" charset="2"/>
              </a:rPr>
              <a:t></a:t>
            </a:r>
            <a:r>
              <a:rPr lang="en-US" altLang="en-US" dirty="0"/>
              <a:t>split() is a method of the String class.</a:t>
            </a:r>
          </a:p>
          <a:p>
            <a:pPr marL="0" indent="0">
              <a:buNone/>
            </a:pPr>
            <a:r>
              <a:rPr lang="en-US" altLang="en-US" dirty="0">
                <a:sym typeface="Wingdings" panose="05000000000000000000" pitchFamily="2" charset="2"/>
              </a:rPr>
              <a:t></a:t>
            </a:r>
            <a:r>
              <a:rPr lang="en-US" altLang="en-US" dirty="0"/>
              <a:t>It divides a string into smaller parts based on a delimiter.</a:t>
            </a:r>
          </a:p>
          <a:p>
            <a:r>
              <a:rPr lang="en-US" altLang="en-US" dirty="0"/>
              <a:t>Trimming</a:t>
            </a:r>
            <a:r>
              <a:rPr lang="en-IN" altLang="en-US" dirty="0"/>
              <a:t>:</a:t>
            </a:r>
            <a:endParaRPr lang="en-US" altLang="en-US" dirty="0"/>
          </a:p>
          <a:p>
            <a:pPr marL="0" indent="0">
              <a:buNone/>
            </a:pPr>
            <a:r>
              <a:rPr lang="en-US" altLang="en-US" dirty="0">
                <a:sym typeface="Wingdings" panose="05000000000000000000" pitchFamily="2" charset="2"/>
              </a:rPr>
              <a:t></a:t>
            </a:r>
            <a:r>
              <a:rPr lang="en-US" altLang="en-US" dirty="0"/>
              <a:t>Trimming means removing unnecessary spaces from the beginning and end of a string.</a:t>
            </a:r>
          </a:p>
          <a:p>
            <a:pPr marL="0" indent="0">
              <a:buNone/>
            </a:pPr>
            <a:r>
              <a:rPr lang="en-US" altLang="en-US" dirty="0">
                <a:sym typeface="Wingdings" panose="05000000000000000000" pitchFamily="2" charset="2"/>
              </a:rPr>
              <a:t></a:t>
            </a:r>
            <a:r>
              <a:rPr lang="en-US" altLang="en-US" dirty="0"/>
              <a:t>Java provides the trim() method.</a:t>
            </a:r>
          </a:p>
          <a:p>
            <a:pPr marL="0" indent="0">
              <a:buNone/>
            </a:pPr>
            <a:endParaRPr lang="en-IN" altLang="en-US" dirty="0"/>
          </a:p>
          <a:p>
            <a:pPr marL="0" indent="0">
              <a:buNone/>
            </a:pPr>
            <a:endParaRPr lang="en-US" dirty="0"/>
          </a:p>
        </p:txBody>
      </p:sp>
      <p:pic>
        <p:nvPicPr>
          <p:cNvPr id="5" name="Picture 4" descr="KLH Hyderabad Alumni Association - Lifelong Connections">
            <a:extLst>
              <a:ext uri="{FF2B5EF4-FFF2-40B4-BE49-F238E27FC236}">
                <a16:creationId xmlns:a16="http://schemas.microsoft.com/office/drawing/2014/main" id="{9FA3562D-5C5B-B8F9-E9A7-DA9047F77B3D}"/>
              </a:ext>
            </a:extLst>
          </p:cNvPr>
          <p:cNvPicPr>
            <a:picLocks noChangeAspect="1"/>
          </p:cNvPicPr>
          <p:nvPr/>
        </p:nvPicPr>
        <p:blipFill>
          <a:blip r:embed="rId2"/>
          <a:stretch>
            <a:fillRect/>
          </a:stretch>
        </p:blipFill>
        <p:spPr>
          <a:xfrm>
            <a:off x="71337" y="1"/>
            <a:ext cx="760072" cy="573932"/>
          </a:xfrm>
          <a:prstGeom prst="rect">
            <a:avLst/>
          </a:prstGeom>
        </p:spPr>
      </p:pic>
      <p:pic>
        <p:nvPicPr>
          <p:cNvPr id="6" name="Picture 5">
            <a:extLst>
              <a:ext uri="{FF2B5EF4-FFF2-40B4-BE49-F238E27FC236}">
                <a16:creationId xmlns:a16="http://schemas.microsoft.com/office/drawing/2014/main" id="{2036B9D2-B869-35F1-366C-C823EB1AFB9A}"/>
              </a:ext>
            </a:extLst>
          </p:cNvPr>
          <p:cNvPicPr>
            <a:picLocks noChangeAspect="1"/>
          </p:cNvPicPr>
          <p:nvPr/>
        </p:nvPicPr>
        <p:blipFill>
          <a:blip r:embed="rId3"/>
          <a:stretch>
            <a:fillRect/>
          </a:stretch>
        </p:blipFill>
        <p:spPr>
          <a:xfrm>
            <a:off x="6871106" y="1181293"/>
            <a:ext cx="4978804" cy="2247707"/>
          </a:xfrm>
          <a:prstGeom prst="rect">
            <a:avLst/>
          </a:prstGeom>
        </p:spPr>
      </p:pic>
    </p:spTree>
    <p:extLst>
      <p:ext uri="{BB962C8B-B14F-4D97-AF65-F5344CB8AC3E}">
        <p14:creationId xmlns:p14="http://schemas.microsoft.com/office/powerpoint/2010/main" val="2298888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FD427-CA4D-8997-BCD0-B19B5EDA30A2}"/>
              </a:ext>
            </a:extLst>
          </p:cNvPr>
          <p:cNvSpPr>
            <a:spLocks noGrp="1"/>
          </p:cNvSpPr>
          <p:nvPr>
            <p:ph type="title"/>
          </p:nvPr>
        </p:nvSpPr>
        <p:spPr>
          <a:xfrm>
            <a:off x="838199" y="0"/>
            <a:ext cx="10640439" cy="1001949"/>
          </a:xfrm>
        </p:spPr>
        <p:txBody>
          <a:bodyPr>
            <a:normAutofit/>
          </a:bodyPr>
          <a:lstStyle/>
          <a:p>
            <a:r>
              <a:rPr lang="en-US" sz="3200" dirty="0"/>
              <a:t>CO-6 FUNCTIONAL PROGRAMMING WITH COLLECTIONS &amp;STREAMS</a:t>
            </a:r>
          </a:p>
        </p:txBody>
      </p:sp>
      <p:sp>
        <p:nvSpPr>
          <p:cNvPr id="3" name="Content Placeholder 2">
            <a:extLst>
              <a:ext uri="{FF2B5EF4-FFF2-40B4-BE49-F238E27FC236}">
                <a16:creationId xmlns:a16="http://schemas.microsoft.com/office/drawing/2014/main" id="{D8882675-CEF9-30F7-D9CC-E5F2127C25CE}"/>
              </a:ext>
            </a:extLst>
          </p:cNvPr>
          <p:cNvSpPr>
            <a:spLocks noGrp="1"/>
          </p:cNvSpPr>
          <p:nvPr>
            <p:ph idx="1"/>
          </p:nvPr>
        </p:nvSpPr>
        <p:spPr>
          <a:xfrm>
            <a:off x="71337" y="1001949"/>
            <a:ext cx="12029872" cy="5593404"/>
          </a:xfrm>
        </p:spPr>
        <p:txBody>
          <a:bodyPr>
            <a:normAutofit/>
          </a:bodyPr>
          <a:lstStyle/>
          <a:p>
            <a:r>
              <a:rPr lang="en-US" sz="2400" b="1" dirty="0"/>
              <a:t>Java Collections Framework (JCF) :</a:t>
            </a:r>
          </a:p>
          <a:p>
            <a:r>
              <a:rPr lang="en-US" sz="2400" dirty="0"/>
              <a:t>The JCF provides a unified architecture in the java. util package to store, manipulate, and manage groups of objects efficiently. </a:t>
            </a:r>
          </a:p>
          <a:p>
            <a:r>
              <a:rPr lang="en-US" sz="2400" dirty="0"/>
              <a:t>List: Stores elements in a sequence and allows duplicates. It features fast random access via indices but slow insertions/removals in the middle due to element shifting. (e.g., </a:t>
            </a:r>
            <a:r>
              <a:rPr lang="en-US" sz="2400" dirty="0" err="1"/>
              <a:t>ArrayList</a:t>
            </a:r>
            <a:r>
              <a:rPr lang="en-US" sz="2400" dirty="0"/>
              <a:t>)</a:t>
            </a:r>
          </a:p>
          <a:p>
            <a:r>
              <a:rPr lang="en-US" sz="2400" dirty="0"/>
              <a:t>Set: stores unique elements only and does not guarantee insertion order. (e.g., HashSet)</a:t>
            </a:r>
          </a:p>
          <a:p>
            <a:r>
              <a:rPr lang="en-US" sz="2400" dirty="0"/>
              <a:t>Map :   Stores data as key-value pairs. Keys must be completely unique, while values can be duplicated. (e.g., HashMap)</a:t>
            </a:r>
          </a:p>
          <a:p>
            <a:pPr lvl="0"/>
            <a:r>
              <a:rPr lang="en-US" sz="2400" dirty="0"/>
              <a:t>Ordered Collections: Used when a specific ordering rule is required:</a:t>
            </a:r>
          </a:p>
          <a:p>
            <a:pPr marL="0" lvl="0" indent="0">
              <a:buNone/>
            </a:pPr>
            <a:r>
              <a:rPr lang="en-US" sz="2400" dirty="0">
                <a:sym typeface="Wingdings" panose="05000000000000000000" pitchFamily="2" charset="2"/>
              </a:rPr>
              <a:t></a:t>
            </a:r>
            <a:r>
              <a:rPr lang="en-US" sz="2400" dirty="0" err="1"/>
              <a:t>TreeSet</a:t>
            </a:r>
            <a:r>
              <a:rPr lang="en-US" sz="2400" dirty="0"/>
              <a:t> / </a:t>
            </a:r>
            <a:r>
              <a:rPr lang="en-US" sz="2400" dirty="0" err="1"/>
              <a:t>TreeMap</a:t>
            </a:r>
            <a:r>
              <a:rPr lang="en-US" sz="2400" dirty="0"/>
              <a:t>: Elements or keys are automatically sorted in natural order.</a:t>
            </a:r>
          </a:p>
          <a:p>
            <a:pPr marL="0" lvl="0" indent="0">
              <a:buNone/>
            </a:pPr>
            <a:r>
              <a:rPr lang="en-US" sz="2400" dirty="0">
                <a:sym typeface="Wingdings" panose="05000000000000000000" pitchFamily="2" charset="2"/>
              </a:rPr>
              <a:t></a:t>
            </a:r>
            <a:r>
              <a:rPr lang="en-US" sz="2400" dirty="0" err="1"/>
              <a:t>LinkedHashSet</a:t>
            </a:r>
            <a:r>
              <a:rPr lang="en-US" sz="2400" dirty="0"/>
              <a:t> / </a:t>
            </a:r>
            <a:r>
              <a:rPr lang="en-US" sz="2400" dirty="0" err="1"/>
              <a:t>LinkedHashMap</a:t>
            </a:r>
            <a:r>
              <a:rPr lang="en-US" sz="2400" dirty="0"/>
              <a:t>: Maintains the exact insertion order of items.</a:t>
            </a:r>
          </a:p>
          <a:p>
            <a:pPr lvl="1"/>
            <a:endParaRPr lang="en-US" dirty="0"/>
          </a:p>
          <a:p>
            <a:endParaRPr lang="en-US" sz="2400" dirty="0"/>
          </a:p>
          <a:p>
            <a:pPr marL="0" indent="0">
              <a:buNone/>
            </a:pPr>
            <a:endParaRPr lang="en-US" sz="2400" dirty="0"/>
          </a:p>
          <a:p>
            <a:endParaRPr lang="en-US" dirty="0"/>
          </a:p>
        </p:txBody>
      </p:sp>
      <p:pic>
        <p:nvPicPr>
          <p:cNvPr id="5" name="Picture 4" descr="KLH Hyderabad Alumni Association - Lifelong Connections">
            <a:extLst>
              <a:ext uri="{FF2B5EF4-FFF2-40B4-BE49-F238E27FC236}">
                <a16:creationId xmlns:a16="http://schemas.microsoft.com/office/drawing/2014/main" id="{AE0E2F62-6959-F1F0-D95B-A6A3665E4580}"/>
              </a:ext>
            </a:extLst>
          </p:cNvPr>
          <p:cNvPicPr>
            <a:picLocks noChangeAspect="1"/>
          </p:cNvPicPr>
          <p:nvPr/>
        </p:nvPicPr>
        <p:blipFill>
          <a:blip r:embed="rId2"/>
          <a:stretch>
            <a:fillRect/>
          </a:stretch>
        </p:blipFill>
        <p:spPr>
          <a:xfrm>
            <a:off x="71337" y="1"/>
            <a:ext cx="760072" cy="573932"/>
          </a:xfrm>
          <a:prstGeom prst="rect">
            <a:avLst/>
          </a:prstGeom>
        </p:spPr>
      </p:pic>
    </p:spTree>
    <p:extLst>
      <p:ext uri="{BB962C8B-B14F-4D97-AF65-F5344CB8AC3E}">
        <p14:creationId xmlns:p14="http://schemas.microsoft.com/office/powerpoint/2010/main" val="4202638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962D0B-9163-9851-8108-CED3BDF5A5C3}"/>
              </a:ext>
            </a:extLst>
          </p:cNvPr>
          <p:cNvSpPr>
            <a:spLocks noGrp="1"/>
          </p:cNvSpPr>
          <p:nvPr>
            <p:ph idx="1"/>
          </p:nvPr>
        </p:nvSpPr>
        <p:spPr>
          <a:xfrm>
            <a:off x="0" y="0"/>
            <a:ext cx="12192000" cy="6858000"/>
          </a:xfrm>
        </p:spPr>
        <p:txBody>
          <a:bodyPr>
            <a:normAutofit/>
          </a:bodyPr>
          <a:lstStyle/>
          <a:p>
            <a:r>
              <a:rPr lang="en-US" sz="2000" b="1" dirty="0"/>
              <a:t>                Generics &amp; Type Safety</a:t>
            </a:r>
          </a:p>
          <a:p>
            <a:pPr lvl="0"/>
            <a:r>
              <a:rPr lang="en-US" sz="2000" b="1" dirty="0"/>
              <a:t>Definition</a:t>
            </a:r>
            <a:r>
              <a:rPr lang="en-US" sz="2000" dirty="0"/>
              <a:t>: Generics allow you to specify the exact data type a collection can hold (e.g., </a:t>
            </a:r>
            <a:r>
              <a:rPr lang="en-US" sz="2000" dirty="0" err="1"/>
              <a:t>ArrayList</a:t>
            </a:r>
            <a:r>
              <a:rPr lang="en-US" sz="2000" dirty="0"/>
              <a:t>&lt;String&gt;).</a:t>
            </a:r>
          </a:p>
          <a:p>
            <a:r>
              <a:rPr lang="en-US" sz="2000" b="1" dirty="0"/>
              <a:t>Autoboxing and Unboxing</a:t>
            </a:r>
          </a:p>
          <a:p>
            <a:pPr lvl="0"/>
            <a:r>
              <a:rPr lang="en-US" sz="2000" b="1" dirty="0"/>
              <a:t>Autoboxing</a:t>
            </a:r>
            <a:r>
              <a:rPr lang="en-US" sz="2000" dirty="0"/>
              <a:t>: Automatic conversion of primitive data types (like int, double) into their corresponding            object wrappers (Integer, Double) because collections can only store objects.</a:t>
            </a:r>
          </a:p>
          <a:p>
            <a:pPr lvl="0"/>
            <a:r>
              <a:rPr lang="en-US" sz="2000" b="1" dirty="0"/>
              <a:t>Unboxing</a:t>
            </a:r>
            <a:r>
              <a:rPr lang="en-US" sz="2000" dirty="0"/>
              <a:t>: Automatic conversion of the wrapper object back into its primitive form.</a:t>
            </a:r>
          </a:p>
          <a:p>
            <a:r>
              <a:rPr lang="en-US" sz="2000" b="1" dirty="0"/>
              <a:t>Collection Iteration Techniques</a:t>
            </a:r>
          </a:p>
          <a:p>
            <a:pPr lvl="0"/>
            <a:r>
              <a:rPr lang="en-US" sz="2000" b="1" dirty="0"/>
              <a:t>For-each Loop</a:t>
            </a:r>
            <a:r>
              <a:rPr lang="en-US" sz="2000" dirty="0"/>
              <a:t>: Best used for simple, readable, and sequential traversal of a collection.</a:t>
            </a:r>
          </a:p>
          <a:p>
            <a:pPr lvl="0"/>
            <a:r>
              <a:rPr lang="en-US" sz="2000" b="1" dirty="0"/>
              <a:t>Iterator</a:t>
            </a:r>
            <a:r>
              <a:rPr lang="en-US" sz="2000" dirty="0"/>
              <a:t>: An object used to move through a collection sequentially. It is the only safe method to remove elements dynamically during iteration using </a:t>
            </a:r>
            <a:r>
              <a:rPr lang="en-US" sz="2000" dirty="0" err="1"/>
              <a:t>iterator.remove</a:t>
            </a:r>
            <a:r>
              <a:rPr lang="en-US" sz="2000" dirty="0"/>
              <a:t>().</a:t>
            </a:r>
          </a:p>
          <a:p>
            <a:pPr lvl="0"/>
            <a:r>
              <a:rPr lang="en-US" sz="2000" b="1" dirty="0"/>
              <a:t>Declarative Processing</a:t>
            </a:r>
            <a:r>
              <a:rPr lang="en-US" sz="2000" dirty="0"/>
              <a:t>: Shifting from </a:t>
            </a:r>
            <a:r>
              <a:rPr lang="en-US" sz="2000" i="1" dirty="0"/>
              <a:t>how</a:t>
            </a:r>
            <a:r>
              <a:rPr lang="en-US" sz="2000" dirty="0"/>
              <a:t> to do a task (imperative loops) to </a:t>
            </a:r>
            <a:r>
              <a:rPr lang="en-US" sz="2000" i="1" dirty="0"/>
              <a:t>what</a:t>
            </a:r>
            <a:endParaRPr lang="en-US" sz="2000" dirty="0"/>
          </a:p>
          <a:p>
            <a:pPr lvl="0"/>
            <a:r>
              <a:rPr lang="en-US" sz="2000" dirty="0"/>
              <a:t>result is needed using Java Streams.</a:t>
            </a:r>
          </a:p>
          <a:p>
            <a:r>
              <a:rPr lang="en-US" sz="1900" b="1" dirty="0"/>
              <a:t>Functional Programming Elements</a:t>
            </a:r>
          </a:p>
          <a:p>
            <a:pPr lvl="0"/>
            <a:r>
              <a:rPr lang="en-US" sz="1900" b="1" dirty="0"/>
              <a:t>Functional Interface</a:t>
            </a:r>
            <a:r>
              <a:rPr lang="en-US" sz="1900" dirty="0"/>
              <a:t>: An interface containing </a:t>
            </a:r>
            <a:r>
              <a:rPr lang="en-US" sz="1900" b="1" dirty="0"/>
              <a:t>exactly one abstract method</a:t>
            </a:r>
            <a:r>
              <a:rPr lang="en-US" sz="1900" dirty="0"/>
              <a:t> (e.g., @FunctionalInterface).</a:t>
            </a:r>
          </a:p>
          <a:p>
            <a:pPr lvl="0"/>
            <a:r>
              <a:rPr lang="en-US" sz="1900" b="1" dirty="0"/>
              <a:t>Lambda Expressions</a:t>
            </a:r>
            <a:r>
              <a:rPr lang="en-US" sz="1900" dirty="0"/>
              <a:t>: Concise, unnamed blocks of code used to implement functional interfaces directly ((parameters) -&gt; expression).</a:t>
            </a:r>
          </a:p>
          <a:p>
            <a:pPr lvl="0"/>
            <a:r>
              <a:rPr lang="en-US" sz="1900" b="1" dirty="0"/>
              <a:t>Method References</a:t>
            </a:r>
            <a:r>
              <a:rPr lang="en-US" sz="1900" dirty="0"/>
              <a:t>: Uses the :: operator to directly point to an existing method instead of rewriting it as a lambda expression (e.g., </a:t>
            </a:r>
            <a:r>
              <a:rPr lang="en-US" sz="1900" dirty="0" err="1"/>
              <a:t>System.out</a:t>
            </a:r>
            <a:r>
              <a:rPr lang="en-US" sz="1900" dirty="0"/>
              <a:t>::</a:t>
            </a:r>
            <a:r>
              <a:rPr lang="en-US" sz="1900" dirty="0" err="1"/>
              <a:t>println</a:t>
            </a:r>
            <a:r>
              <a:rPr lang="en-US" sz="1900" dirty="0"/>
              <a:t>).</a:t>
            </a:r>
          </a:p>
          <a:p>
            <a:pPr lvl="0"/>
            <a:endParaRPr lang="en-US" sz="2000" dirty="0"/>
          </a:p>
          <a:p>
            <a:endParaRPr lang="en-US" dirty="0"/>
          </a:p>
        </p:txBody>
      </p:sp>
      <p:pic>
        <p:nvPicPr>
          <p:cNvPr id="5" name="Picture 4" descr="KLH Hyderabad Alumni Association - Lifelong Connections">
            <a:extLst>
              <a:ext uri="{FF2B5EF4-FFF2-40B4-BE49-F238E27FC236}">
                <a16:creationId xmlns:a16="http://schemas.microsoft.com/office/drawing/2014/main" id="{7748C3C2-E3F2-2F34-1BA8-3597B1A97B5F}"/>
              </a:ext>
            </a:extLst>
          </p:cNvPr>
          <p:cNvPicPr>
            <a:picLocks noChangeAspect="1"/>
          </p:cNvPicPr>
          <p:nvPr/>
        </p:nvPicPr>
        <p:blipFill>
          <a:blip r:embed="rId2"/>
          <a:stretch>
            <a:fillRect/>
          </a:stretch>
        </p:blipFill>
        <p:spPr>
          <a:xfrm>
            <a:off x="38911" y="0"/>
            <a:ext cx="667965" cy="504382"/>
          </a:xfrm>
          <a:prstGeom prst="rect">
            <a:avLst/>
          </a:prstGeom>
        </p:spPr>
      </p:pic>
    </p:spTree>
    <p:extLst>
      <p:ext uri="{BB962C8B-B14F-4D97-AF65-F5344CB8AC3E}">
        <p14:creationId xmlns:p14="http://schemas.microsoft.com/office/powerpoint/2010/main" val="33268597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D0F84D-BEB0-4A51-6EED-D17A19A1B97F}"/>
              </a:ext>
            </a:extLst>
          </p:cNvPr>
          <p:cNvSpPr>
            <a:spLocks noGrp="1"/>
          </p:cNvSpPr>
          <p:nvPr>
            <p:ph idx="1"/>
          </p:nvPr>
        </p:nvSpPr>
        <p:spPr>
          <a:xfrm>
            <a:off x="0" y="515565"/>
            <a:ext cx="12192000" cy="6342435"/>
          </a:xfrm>
        </p:spPr>
        <p:txBody>
          <a:bodyPr/>
          <a:lstStyle/>
          <a:p>
            <a:r>
              <a:rPr lang="en-US" sz="1800" b="1" dirty="0"/>
              <a:t>Java Stream API</a:t>
            </a:r>
          </a:p>
          <a:p>
            <a:r>
              <a:rPr lang="en-US" sz="1800" dirty="0"/>
              <a:t>Streams process data pipelines from a collection without altering the underlying data source. A stream pipeline can only be consumed once.</a:t>
            </a:r>
          </a:p>
          <a:p>
            <a:r>
              <a:rPr lang="en-US" sz="1800" b="1" dirty="0"/>
              <a:t>Intermediate Operations (Transform Streams)</a:t>
            </a:r>
          </a:p>
          <a:p>
            <a:pPr lvl="0"/>
            <a:r>
              <a:rPr lang="en-US" sz="1800" dirty="0"/>
              <a:t>filter(): Selects elements matching a given predicate condition.</a:t>
            </a:r>
          </a:p>
          <a:p>
            <a:pPr lvl="0"/>
            <a:r>
              <a:rPr lang="en-US" sz="1800" dirty="0"/>
              <a:t>map(): Transforms each element into another form.</a:t>
            </a:r>
          </a:p>
          <a:p>
            <a:pPr lvl="0"/>
            <a:r>
              <a:rPr lang="en-US" sz="1800" dirty="0"/>
              <a:t>sorted(): Sorts the elements in natural or custom order.</a:t>
            </a:r>
          </a:p>
          <a:p>
            <a:pPr lvl="0"/>
            <a:r>
              <a:rPr lang="en-US" sz="1800" dirty="0"/>
              <a:t>distinct(): Strips away duplicate values.</a:t>
            </a:r>
          </a:p>
          <a:p>
            <a:pPr lvl="0"/>
            <a:r>
              <a:rPr lang="en-US" sz="1800" dirty="0"/>
              <a:t>limit(n): Truncates the stream to only keep the first </a:t>
            </a:r>
            <a:r>
              <a:rPr lang="en-US" sz="1800" i="1" dirty="0"/>
              <a:t>n</a:t>
            </a:r>
            <a:r>
              <a:rPr lang="en-US" sz="1800" dirty="0"/>
              <a:t> items.</a:t>
            </a:r>
          </a:p>
          <a:p>
            <a:r>
              <a:rPr lang="en-US" sz="1800" b="1" dirty="0"/>
              <a:t>Terminal Operations (Produce Results / Trigger Execution)</a:t>
            </a:r>
          </a:p>
          <a:p>
            <a:pPr lvl="0"/>
            <a:r>
              <a:rPr lang="en-US" sz="1800" dirty="0" err="1"/>
              <a:t>forEach</a:t>
            </a:r>
            <a:r>
              <a:rPr lang="en-US" sz="1800" dirty="0"/>
              <a:t>(): Iterates over each element to execute an action.</a:t>
            </a:r>
          </a:p>
          <a:p>
            <a:pPr lvl="0"/>
            <a:r>
              <a:rPr lang="en-US" sz="1800" dirty="0"/>
              <a:t>collect(): Gathers the final stream elements into a collection or summary structure.</a:t>
            </a:r>
          </a:p>
          <a:p>
            <a:pPr lvl="0"/>
            <a:r>
              <a:rPr lang="en-US" sz="1800" dirty="0"/>
              <a:t>count(): Evaluates the total number of remaining items as a long value.</a:t>
            </a:r>
          </a:p>
          <a:p>
            <a:pPr lvl="0"/>
            <a:r>
              <a:rPr lang="en-US" sz="1800" dirty="0"/>
              <a:t>reduce(): Aggregates stream elements into a single accumulated result.</a:t>
            </a:r>
          </a:p>
          <a:p>
            <a:pPr lvl="0"/>
            <a:endParaRPr lang="en-US" sz="1800" dirty="0"/>
          </a:p>
          <a:p>
            <a:endParaRPr lang="en-US" sz="1800" dirty="0"/>
          </a:p>
          <a:p>
            <a:endParaRPr lang="en-US" dirty="0"/>
          </a:p>
        </p:txBody>
      </p:sp>
      <p:pic>
        <p:nvPicPr>
          <p:cNvPr id="7" name="Picture 6" descr="KLH Hyderabad Alumni Association - Lifelong Connections">
            <a:extLst>
              <a:ext uri="{FF2B5EF4-FFF2-40B4-BE49-F238E27FC236}">
                <a16:creationId xmlns:a16="http://schemas.microsoft.com/office/drawing/2014/main" id="{2D376CCD-9D32-2F27-0B8B-ACE2CA5FEE3B}"/>
              </a:ext>
            </a:extLst>
          </p:cNvPr>
          <p:cNvPicPr>
            <a:picLocks noChangeAspect="1"/>
          </p:cNvPicPr>
          <p:nvPr/>
        </p:nvPicPr>
        <p:blipFill>
          <a:blip r:embed="rId2"/>
          <a:stretch>
            <a:fillRect/>
          </a:stretch>
        </p:blipFill>
        <p:spPr>
          <a:xfrm>
            <a:off x="71337" y="1"/>
            <a:ext cx="760072" cy="573932"/>
          </a:xfrm>
          <a:prstGeom prst="rect">
            <a:avLst/>
          </a:prstGeom>
        </p:spPr>
      </p:pic>
    </p:spTree>
    <p:extLst>
      <p:ext uri="{BB962C8B-B14F-4D97-AF65-F5344CB8AC3E}">
        <p14:creationId xmlns:p14="http://schemas.microsoft.com/office/powerpoint/2010/main" val="2083475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1B876B0-7639-C2F3-6A52-94170E256BDB}"/>
              </a:ext>
            </a:extLst>
          </p:cNvPr>
          <p:cNvPicPr>
            <a:picLocks noGrp="1" noChangeAspect="1"/>
          </p:cNvPicPr>
          <p:nvPr>
            <p:ph idx="1"/>
          </p:nvPr>
        </p:nvPicPr>
        <p:blipFill>
          <a:blip r:embed="rId2"/>
          <a:stretch>
            <a:fillRect/>
          </a:stretch>
        </p:blipFill>
        <p:spPr>
          <a:xfrm>
            <a:off x="1371601" y="680936"/>
            <a:ext cx="8903530" cy="6146593"/>
          </a:xfrm>
          <a:prstGeom prst="rect">
            <a:avLst/>
          </a:prstGeom>
        </p:spPr>
      </p:pic>
      <p:sp>
        <p:nvSpPr>
          <p:cNvPr id="7" name="TextBox 6">
            <a:extLst>
              <a:ext uri="{FF2B5EF4-FFF2-40B4-BE49-F238E27FC236}">
                <a16:creationId xmlns:a16="http://schemas.microsoft.com/office/drawing/2014/main" id="{9C008EA1-29AD-95AD-D118-20964FDE8E26}"/>
              </a:ext>
            </a:extLst>
          </p:cNvPr>
          <p:cNvSpPr txBox="1"/>
          <p:nvPr/>
        </p:nvSpPr>
        <p:spPr>
          <a:xfrm>
            <a:off x="408562" y="418288"/>
            <a:ext cx="963039" cy="369332"/>
          </a:xfrm>
          <a:prstGeom prst="rect">
            <a:avLst/>
          </a:prstGeom>
          <a:noFill/>
        </p:spPr>
        <p:txBody>
          <a:bodyPr wrap="square" rtlCol="0">
            <a:spAutoFit/>
          </a:bodyPr>
          <a:lstStyle/>
          <a:p>
            <a:r>
              <a:rPr lang="en-US" dirty="0"/>
              <a:t>Output :</a:t>
            </a:r>
          </a:p>
        </p:txBody>
      </p:sp>
      <p:pic>
        <p:nvPicPr>
          <p:cNvPr id="9" name="Picture 8" descr="KLH Hyderabad Alumni Association - Lifelong Connections">
            <a:extLst>
              <a:ext uri="{FF2B5EF4-FFF2-40B4-BE49-F238E27FC236}">
                <a16:creationId xmlns:a16="http://schemas.microsoft.com/office/drawing/2014/main" id="{B4F60F35-E92A-684C-7C49-44664E6D9649}"/>
              </a:ext>
            </a:extLst>
          </p:cNvPr>
          <p:cNvPicPr>
            <a:picLocks noChangeAspect="1"/>
          </p:cNvPicPr>
          <p:nvPr/>
        </p:nvPicPr>
        <p:blipFill>
          <a:blip r:embed="rId3"/>
          <a:stretch>
            <a:fillRect/>
          </a:stretch>
        </p:blipFill>
        <p:spPr>
          <a:xfrm>
            <a:off x="71337" y="1"/>
            <a:ext cx="657010" cy="496110"/>
          </a:xfrm>
          <a:prstGeom prst="rect">
            <a:avLst/>
          </a:prstGeom>
        </p:spPr>
      </p:pic>
    </p:spTree>
    <p:extLst>
      <p:ext uri="{BB962C8B-B14F-4D97-AF65-F5344CB8AC3E}">
        <p14:creationId xmlns:p14="http://schemas.microsoft.com/office/powerpoint/2010/main" val="5645119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912042-636D-224B-41F8-EB1ABED7939C}"/>
              </a:ext>
            </a:extLst>
          </p:cNvPr>
          <p:cNvSpPr>
            <a:spLocks noGrp="1"/>
          </p:cNvSpPr>
          <p:nvPr>
            <p:ph idx="1"/>
          </p:nvPr>
        </p:nvSpPr>
        <p:spPr>
          <a:xfrm>
            <a:off x="71337" y="573933"/>
            <a:ext cx="12120663" cy="6284065"/>
          </a:xfrm>
        </p:spPr>
        <p:txBody>
          <a:bodyPr>
            <a:normAutofit/>
          </a:bodyPr>
          <a:lstStyle/>
          <a:p>
            <a:r>
              <a:rPr lang="en-US" sz="2400" b="1" dirty="0"/>
              <a:t>Conclusion</a:t>
            </a:r>
          </a:p>
          <a:p>
            <a:pPr lvl="0"/>
            <a:r>
              <a:rPr lang="en-US" sz="2400" b="1" dirty="0"/>
              <a:t>Streamlined Automation:</a:t>
            </a:r>
            <a:r>
              <a:rPr lang="en-US" sz="2400" dirty="0"/>
              <a:t> Successfully automates the entire e-commerce process from product selection to final order delivery.</a:t>
            </a:r>
          </a:p>
          <a:p>
            <a:pPr lvl="0"/>
            <a:r>
              <a:rPr lang="en-US" sz="2400" b="1" dirty="0"/>
              <a:t>Core Java Framework:</a:t>
            </a:r>
            <a:r>
              <a:rPr lang="en-US" sz="2400" dirty="0"/>
              <a:t> Effectively implements OOP concepts, Collections, and Stream APIs for a structured and efficient codebase.</a:t>
            </a:r>
          </a:p>
          <a:p>
            <a:pPr lvl="0"/>
            <a:r>
              <a:rPr lang="en-US" sz="2400" b="1" dirty="0"/>
              <a:t>Zero Manual Errors:</a:t>
            </a:r>
            <a:r>
              <a:rPr lang="en-US" sz="2400" dirty="0"/>
              <a:t> Eliminates calculation mismatches and stock discrepancies through automated cart tracking and availability checks.</a:t>
            </a:r>
          </a:p>
          <a:p>
            <a:pPr lvl="0"/>
            <a:r>
              <a:rPr lang="en-US" sz="2400" b="1" dirty="0"/>
              <a:t>Clear Pipeline Visibility:</a:t>
            </a:r>
            <a:r>
              <a:rPr lang="en-US" sz="2400" dirty="0"/>
              <a:t> Provides seamless tracking across all major delivery lifecycle stages (</a:t>
            </a:r>
            <a:r>
              <a:rPr lang="en-US" sz="2400" i="1" dirty="0"/>
              <a:t>Cart → Placed → Processing → Shipped → Delivered</a:t>
            </a:r>
            <a:r>
              <a:rPr lang="en-US" sz="2400" dirty="0"/>
              <a:t>).</a:t>
            </a:r>
          </a:p>
          <a:p>
            <a:pPr lvl="0"/>
            <a:r>
              <a:rPr lang="en-US" sz="2400" b="1" dirty="0"/>
              <a:t>Scalable Design:</a:t>
            </a:r>
            <a:r>
              <a:rPr lang="en-US" sz="2400" dirty="0"/>
              <a:t> Built on a highly modular architecture that is ready for future payment gateway and notification upgrades.</a:t>
            </a:r>
          </a:p>
          <a:p>
            <a:endParaRPr lang="en-US" dirty="0"/>
          </a:p>
        </p:txBody>
      </p:sp>
      <p:pic>
        <p:nvPicPr>
          <p:cNvPr id="5" name="Picture 4" descr="KLH Hyderabad Alumni Association - Lifelong Connections">
            <a:extLst>
              <a:ext uri="{FF2B5EF4-FFF2-40B4-BE49-F238E27FC236}">
                <a16:creationId xmlns:a16="http://schemas.microsoft.com/office/drawing/2014/main" id="{CAE0C99A-2D1C-1CB1-10D8-EB0164F45BFF}"/>
              </a:ext>
            </a:extLst>
          </p:cNvPr>
          <p:cNvPicPr>
            <a:picLocks noChangeAspect="1"/>
          </p:cNvPicPr>
          <p:nvPr/>
        </p:nvPicPr>
        <p:blipFill>
          <a:blip r:embed="rId2"/>
          <a:stretch>
            <a:fillRect/>
          </a:stretch>
        </p:blipFill>
        <p:spPr>
          <a:xfrm>
            <a:off x="71337" y="1"/>
            <a:ext cx="760072" cy="573932"/>
          </a:xfrm>
          <a:prstGeom prst="rect">
            <a:avLst/>
          </a:prstGeom>
        </p:spPr>
      </p:pic>
    </p:spTree>
    <p:extLst>
      <p:ext uri="{BB962C8B-B14F-4D97-AF65-F5344CB8AC3E}">
        <p14:creationId xmlns:p14="http://schemas.microsoft.com/office/powerpoint/2010/main" val="28814907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842EC-3669-8F35-76E9-43C28E8146CA}"/>
              </a:ext>
            </a:extLst>
          </p:cNvPr>
          <p:cNvSpPr>
            <a:spLocks noGrp="1"/>
          </p:cNvSpPr>
          <p:nvPr>
            <p:ph type="title"/>
          </p:nvPr>
        </p:nvSpPr>
        <p:spPr>
          <a:xfrm>
            <a:off x="0" y="1"/>
            <a:ext cx="11215991" cy="1157590"/>
          </a:xfrm>
        </p:spPr>
        <p:txBody>
          <a:bodyPr/>
          <a:lstStyle/>
          <a:p>
            <a:r>
              <a:rPr lang="en-IN" dirty="0"/>
              <a:t>          Geo Tag Photo and git hub link:</a:t>
            </a:r>
            <a:endParaRPr lang="en-US" dirty="0"/>
          </a:p>
        </p:txBody>
      </p:sp>
      <p:sp>
        <p:nvSpPr>
          <p:cNvPr id="3" name="Content Placeholder 2">
            <a:extLst>
              <a:ext uri="{FF2B5EF4-FFF2-40B4-BE49-F238E27FC236}">
                <a16:creationId xmlns:a16="http://schemas.microsoft.com/office/drawing/2014/main" id="{D206637C-31D1-A0F3-B660-9C41FC094A01}"/>
              </a:ext>
            </a:extLst>
          </p:cNvPr>
          <p:cNvSpPr>
            <a:spLocks noGrp="1"/>
          </p:cNvSpPr>
          <p:nvPr>
            <p:ph idx="1"/>
          </p:nvPr>
        </p:nvSpPr>
        <p:spPr>
          <a:xfrm>
            <a:off x="155643" y="940406"/>
            <a:ext cx="10519036" cy="4243523"/>
          </a:xfrm>
        </p:spPr>
        <p:txBody>
          <a:bodyPr/>
          <a:lstStyle/>
          <a:p>
            <a:r>
              <a:rPr lang="en-US" dirty="0"/>
              <a:t>GitHub link: </a:t>
            </a:r>
            <a:r>
              <a:rPr lang="en-US" dirty="0">
                <a:hlinkClick r:id="rId2"/>
              </a:rPr>
              <a:t>https://github.com/annampudiphanisaiakshaya-dotcom</a:t>
            </a:r>
            <a:endParaRPr lang="en-US" dirty="0"/>
          </a:p>
          <a:p>
            <a:r>
              <a:rPr lang="en-US" dirty="0"/>
              <a:t>GitHub link: </a:t>
            </a:r>
            <a:r>
              <a:rPr lang="en-US" dirty="0">
                <a:hlinkClick r:id="rId3"/>
              </a:rPr>
              <a:t>https://github.com/pranavibobbilapaty-17/online-store-card.git</a:t>
            </a:r>
            <a:endParaRPr lang="en-US" dirty="0"/>
          </a:p>
          <a:p>
            <a:r>
              <a:rPr lang="en-US" dirty="0"/>
              <a:t>Geo Tag Photo :</a:t>
            </a:r>
          </a:p>
          <a:p>
            <a:endParaRPr lang="en-US" dirty="0"/>
          </a:p>
        </p:txBody>
      </p:sp>
      <p:pic>
        <p:nvPicPr>
          <p:cNvPr id="5" name="Picture 4" descr="KLH Hyderabad Alumni Association - Lifelong Connections">
            <a:extLst>
              <a:ext uri="{FF2B5EF4-FFF2-40B4-BE49-F238E27FC236}">
                <a16:creationId xmlns:a16="http://schemas.microsoft.com/office/drawing/2014/main" id="{1BECE473-220F-7CE7-AFAE-619DF7BE797F}"/>
              </a:ext>
            </a:extLst>
          </p:cNvPr>
          <p:cNvPicPr>
            <a:picLocks noChangeAspect="1"/>
          </p:cNvPicPr>
          <p:nvPr/>
        </p:nvPicPr>
        <p:blipFill>
          <a:blip r:embed="rId4"/>
          <a:stretch>
            <a:fillRect/>
          </a:stretch>
        </p:blipFill>
        <p:spPr>
          <a:xfrm>
            <a:off x="87549" y="10829"/>
            <a:ext cx="856034" cy="646393"/>
          </a:xfrm>
          <a:prstGeom prst="rect">
            <a:avLst/>
          </a:prstGeom>
        </p:spPr>
      </p:pic>
      <p:pic>
        <p:nvPicPr>
          <p:cNvPr id="6" name="Picture 5">
            <a:extLst>
              <a:ext uri="{FF2B5EF4-FFF2-40B4-BE49-F238E27FC236}">
                <a16:creationId xmlns:a16="http://schemas.microsoft.com/office/drawing/2014/main" id="{05234A1D-34EF-7A7F-3030-3C2470EE22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15575" y="2859931"/>
            <a:ext cx="7024873" cy="3793787"/>
          </a:xfrm>
          <a:prstGeom prst="rect">
            <a:avLst/>
          </a:prstGeom>
        </p:spPr>
      </p:pic>
    </p:spTree>
    <p:extLst>
      <p:ext uri="{BB962C8B-B14F-4D97-AF65-F5344CB8AC3E}">
        <p14:creationId xmlns:p14="http://schemas.microsoft.com/office/powerpoint/2010/main" val="4093330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Best Thank You Slide For PPT">
            <a:extLst>
              <a:ext uri="{FF2B5EF4-FFF2-40B4-BE49-F238E27FC236}">
                <a16:creationId xmlns:a16="http://schemas.microsoft.com/office/drawing/2014/main" id="{6882C589-FC17-68D7-0403-83A3B372F66E}"/>
              </a:ext>
            </a:extLst>
          </p:cNvPr>
          <p:cNvPicPr>
            <a:picLocks noGrp="1" noChangeAspect="1"/>
          </p:cNvPicPr>
          <p:nvPr>
            <p:ph idx="1"/>
          </p:nvPr>
        </p:nvPicPr>
        <p:blipFill>
          <a:blip r:embed="rId2"/>
          <a:stretch>
            <a:fillRect/>
          </a:stretch>
        </p:blipFill>
        <p:spPr>
          <a:xfrm>
            <a:off x="0" y="-2246"/>
            <a:ext cx="12175103" cy="6860246"/>
          </a:xfrm>
          <a:prstGeom prst="rect">
            <a:avLst/>
          </a:prstGeom>
        </p:spPr>
      </p:pic>
      <p:pic>
        <p:nvPicPr>
          <p:cNvPr id="3" name="Picture 2" descr="KLH Hyderabad Alumni Association - Lifelong Connections">
            <a:extLst>
              <a:ext uri="{FF2B5EF4-FFF2-40B4-BE49-F238E27FC236}">
                <a16:creationId xmlns:a16="http://schemas.microsoft.com/office/drawing/2014/main" id="{19B7415E-C8C0-E668-ADCB-F708B8AC459E}"/>
              </a:ext>
            </a:extLst>
          </p:cNvPr>
          <p:cNvPicPr>
            <a:picLocks noChangeAspect="1"/>
          </p:cNvPicPr>
          <p:nvPr/>
        </p:nvPicPr>
        <p:blipFill>
          <a:blip r:embed="rId3">
            <a:extLst>
              <a:ext uri="{BEBA8EAE-BF5A-486C-A8C5-ECC9F3942E4B}">
                <a14:imgProps xmlns:a14="http://schemas.microsoft.com/office/drawing/2010/main">
                  <a14:imgLayer r:embed="rId4">
                    <a14:imgEffect>
                      <a14:saturation sat="300000"/>
                    </a14:imgEffect>
                  </a14:imgLayer>
                </a14:imgProps>
              </a:ext>
            </a:extLst>
          </a:blip>
          <a:stretch>
            <a:fillRect/>
          </a:stretch>
        </p:blipFill>
        <p:spPr>
          <a:xfrm>
            <a:off x="0" y="0"/>
            <a:ext cx="943583" cy="712501"/>
          </a:xfrm>
          <a:prstGeom prst="rect">
            <a:avLst/>
          </a:prstGeom>
          <a:blipFill>
            <a:blip r:embed="rId5"/>
            <a:tile tx="0" ty="0" sx="100000" sy="100000" flip="none" algn="tl"/>
          </a:blipFill>
        </p:spPr>
      </p:pic>
    </p:spTree>
    <p:extLst>
      <p:ext uri="{BB962C8B-B14F-4D97-AF65-F5344CB8AC3E}">
        <p14:creationId xmlns:p14="http://schemas.microsoft.com/office/powerpoint/2010/main" val="1643595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749</TotalTime>
  <Words>2248</Words>
  <Application>Microsoft Office PowerPoint</Application>
  <PresentationFormat>Widescreen</PresentationFormat>
  <Paragraphs>199</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Times New Roman</vt:lpstr>
      <vt:lpstr>Wingdings</vt:lpstr>
      <vt:lpstr>Office Theme</vt:lpstr>
      <vt:lpstr>PowerPoint Presentation</vt:lpstr>
      <vt:lpstr>ONLINE STORE CART AND ORDER PIPELINE                            Team No: 13</vt:lpstr>
      <vt:lpstr>PowerPoint Presentation</vt:lpstr>
      <vt:lpstr>PowerPoint Presentation</vt:lpstr>
      <vt:lpstr>PowerPoint Presentation</vt:lpstr>
      <vt:lpstr>                CO-1 Topics – Basic Operators</vt:lpstr>
      <vt:lpstr>                   CO-2 Topics - ITERATION/ LOOPS</vt:lpstr>
      <vt:lpstr>                        CO-3 TOPIC : ARRAYS</vt:lpstr>
      <vt:lpstr>CO – 4 OBJECT ORIENTED PROGRAMMING(OOPS)</vt:lpstr>
      <vt:lpstr>PowerPoint Presentation</vt:lpstr>
      <vt:lpstr>PowerPoint Presentation</vt:lpstr>
      <vt:lpstr>PowerPoint Presentation</vt:lpstr>
      <vt:lpstr>CO – 5 STRINGS </vt:lpstr>
      <vt:lpstr>StringBuffer: </vt:lpstr>
      <vt:lpstr>CO-6 FUNCTIONAL PROGRAMMING WITH COLLECTIONS &amp;STREAMS</vt:lpstr>
      <vt:lpstr>PowerPoint Presentation</vt:lpstr>
      <vt:lpstr>PowerPoint Presentation</vt:lpstr>
      <vt:lpstr>PowerPoint Presentation</vt:lpstr>
      <vt:lpstr>PowerPoint Presentation</vt:lpstr>
      <vt:lpstr>          Geo Tag Photo and git hub link: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Akshaya</dc:creator>
  <cp:lastModifiedBy>A. Akshaya</cp:lastModifiedBy>
  <cp:revision>5</cp:revision>
  <dcterms:created xsi:type="dcterms:W3CDTF">2026-09-21T14:55:11Z</dcterms:created>
  <dcterms:modified xsi:type="dcterms:W3CDTF">2026-10-17T06:40:24Z</dcterms:modified>
</cp:coreProperties>
</file>